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7772400" cx="100584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456AD8-3828-4D45-A21B-836AA37D4A14}">
  <a:tblStyle styleId="{B1456AD8-3828-4D45-A21B-836AA37D4A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0753b190c_1_10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0753b190c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30f084e30_0_7:notes"/>
          <p:cNvSpPr/>
          <p:nvPr>
            <p:ph idx="2" type="sldImg"/>
          </p:nvPr>
        </p:nvSpPr>
        <p:spPr>
          <a:xfrm>
            <a:off x="121053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30f084e3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0782e78a0_0_55:notes"/>
          <p:cNvSpPr/>
          <p:nvPr>
            <p:ph idx="2" type="sldImg"/>
          </p:nvPr>
        </p:nvSpPr>
        <p:spPr>
          <a:xfrm>
            <a:off x="121053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0782e78a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6b70e69d7_0_5:notes"/>
          <p:cNvSpPr/>
          <p:nvPr>
            <p:ph idx="2" type="sldImg"/>
          </p:nvPr>
        </p:nvSpPr>
        <p:spPr>
          <a:xfrm>
            <a:off x="121053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6b70e69d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6b70e69d7_0_17:notes"/>
          <p:cNvSpPr/>
          <p:nvPr>
            <p:ph idx="2" type="sldImg"/>
          </p:nvPr>
        </p:nvSpPr>
        <p:spPr>
          <a:xfrm>
            <a:off x="121053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6b70e69d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0782e78a0_0_74:notes"/>
          <p:cNvSpPr/>
          <p:nvPr>
            <p:ph idx="2" type="sldImg"/>
          </p:nvPr>
        </p:nvSpPr>
        <p:spPr>
          <a:xfrm>
            <a:off x="121053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0782e78a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6b70e69d7_0_35:notes"/>
          <p:cNvSpPr/>
          <p:nvPr>
            <p:ph idx="2" type="sldImg"/>
          </p:nvPr>
        </p:nvSpPr>
        <p:spPr>
          <a:xfrm>
            <a:off x="121053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6b70e69d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0782e78a0_0_94:notes"/>
          <p:cNvSpPr/>
          <p:nvPr>
            <p:ph idx="2" type="sldImg"/>
          </p:nvPr>
        </p:nvSpPr>
        <p:spPr>
          <a:xfrm>
            <a:off x="121053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0782e78a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42870" y="103700"/>
            <a:ext cx="9372600" cy="1359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10-423/10-623 GENERATIVE AI</a:t>
            </a:r>
            <a:r>
              <a:rPr lang="en" sz="6900"/>
              <a:t>                    </a:t>
            </a:r>
            <a:endParaRPr sz="69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42895" y="3287403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Fine-Tuning vs. Retrieval for Small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LLMs</a:t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 flipH="1" rot="10800000">
            <a:off x="30800" y="1491662"/>
            <a:ext cx="99660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6624325" y="6762100"/>
            <a:ext cx="3434400" cy="10104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02124"/>
                </a:solidFill>
              </a:rPr>
              <a:t>Aaron Tan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Amine Bouayad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Marius Nwobi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42870" y="103700"/>
            <a:ext cx="9372600" cy="13596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10-423/10-623 GENERATIVE AI                     </a:t>
            </a:r>
            <a:endParaRPr sz="4500"/>
          </a:p>
        </p:txBody>
      </p:sp>
      <p:cxnSp>
        <p:nvCxnSpPr>
          <p:cNvPr id="63" name="Google Shape;63;p14"/>
          <p:cNvCxnSpPr/>
          <p:nvPr/>
        </p:nvCxnSpPr>
        <p:spPr>
          <a:xfrm flipH="1" rot="10800000">
            <a:off x="30800" y="1491662"/>
            <a:ext cx="99660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1488450" y="4709550"/>
            <a:ext cx="7081500" cy="288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/>
          <a:p>
            <a:pPr indent="-375443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3"/>
              <a:buChar char="●"/>
            </a:pPr>
            <a:r>
              <a:rPr b="1" lang="en" sz="2312">
                <a:solidFill>
                  <a:srgbClr val="000000"/>
                </a:solidFill>
              </a:rPr>
              <a:t>Retriever</a:t>
            </a:r>
            <a:r>
              <a:rPr lang="en" sz="2312">
                <a:solidFill>
                  <a:srgbClr val="000000"/>
                </a:solidFill>
              </a:rPr>
              <a:t>: the component that ranks and returns the most relevant chunks from a large Corpus.</a:t>
            </a:r>
            <a:endParaRPr sz="2312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312">
              <a:solidFill>
                <a:srgbClr val="000000"/>
              </a:solidFill>
            </a:endParaRPr>
          </a:p>
          <a:p>
            <a:pPr indent="-375443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3"/>
              <a:buChar char="●"/>
            </a:pPr>
            <a:r>
              <a:rPr b="1" lang="en" sz="2312">
                <a:solidFill>
                  <a:srgbClr val="000000"/>
                </a:solidFill>
              </a:rPr>
              <a:t>Reader</a:t>
            </a:r>
            <a:r>
              <a:rPr lang="en" sz="2312">
                <a:solidFill>
                  <a:srgbClr val="000000"/>
                </a:solidFill>
              </a:rPr>
              <a:t>: the fine-tuned LLM that processes those chunks to extract answer</a:t>
            </a:r>
            <a:endParaRPr sz="2312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312">
              <a:solidFill>
                <a:srgbClr val="000000"/>
              </a:solidFill>
            </a:endParaRPr>
          </a:p>
          <a:p>
            <a:pPr indent="-375443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3"/>
              <a:buChar char="●"/>
            </a:pPr>
            <a:r>
              <a:rPr lang="en" sz="2312">
                <a:solidFill>
                  <a:srgbClr val="000000"/>
                </a:solidFill>
              </a:rPr>
              <a:t>lightweight retrieval or parameter-efficient fine-tuning, which one yields the greater marginal accuracy gain per dollar ?</a:t>
            </a:r>
            <a:endParaRPr sz="2312">
              <a:solidFill>
                <a:srgbClr val="000000"/>
              </a:solidFill>
            </a:endParaRPr>
          </a:p>
        </p:txBody>
      </p:sp>
      <p:pic>
        <p:nvPicPr>
          <p:cNvPr id="65" name="Google Shape;65;p14" title="Screenshot 2025-04-27 at 12.27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574" y="1668850"/>
            <a:ext cx="7695251" cy="256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342870" y="103700"/>
            <a:ext cx="9372600" cy="1359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BM25 vs DPR</a:t>
            </a:r>
            <a:endParaRPr sz="4500"/>
          </a:p>
        </p:txBody>
      </p:sp>
      <p:cxnSp>
        <p:nvCxnSpPr>
          <p:cNvPr id="71" name="Google Shape;71;p15"/>
          <p:cNvCxnSpPr/>
          <p:nvPr/>
        </p:nvCxnSpPr>
        <p:spPr>
          <a:xfrm flipH="1" rot="10800000">
            <a:off x="30800" y="1491662"/>
            <a:ext cx="99660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72" name="Google Shape;72;p15"/>
          <p:cNvGraphicFramePr/>
          <p:nvPr/>
        </p:nvGraphicFramePr>
        <p:xfrm>
          <a:off x="937100" y="242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{B1456AD8-3828-4D45-A21B-836AA37D4A14}</a:tableStyleId>
              </a:tblPr>
              <a:tblGrid>
                <a:gridCol w="4076700"/>
                <a:gridCol w="4076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BM25 </a:t>
                      </a:r>
                      <a:r>
                        <a:rPr b="1" i="1" lang="en" sz="1100"/>
                        <a:t>(“smart TF-IDF”)</a:t>
                      </a:r>
                      <a:endParaRPr b="1" i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DPR </a:t>
                      </a:r>
                      <a:r>
                        <a:rPr b="1" i="1" lang="en" sz="1100"/>
                        <a:t>(Dense Passage Retrieval)</a:t>
                      </a:r>
                      <a:endParaRPr b="1" i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How it works</a:t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Counts query words in each doc.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Boosts </a:t>
                      </a:r>
                      <a:r>
                        <a:rPr i="1" lang="en" sz="1100"/>
                        <a:t>rare</a:t>
                      </a:r>
                      <a:r>
                        <a:rPr lang="en" sz="1100"/>
                        <a:t> words, trims gains after a few repeats.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Normalises for doc length.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How it works</a:t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Encodes queries </a:t>
                      </a:r>
                      <a:r>
                        <a:rPr b="1" lang="en" sz="1100"/>
                        <a:t>and</a:t>
                      </a:r>
                      <a:r>
                        <a:rPr lang="en" sz="1100"/>
                        <a:t> passages into dense vectors with a bi-encoder.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Uses dot-product similarity to pick top-k passages.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Signal type</a:t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Lexical – exact word overlap.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Semantic – captures synonyms and paraphrases.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Training need</a:t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None (formula-based).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Needs labeled Q&amp;A pairs for contrastive training.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Speed / cost</a:t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Tiny index (BM25 scores from term lists).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CPU-friendly, no GPUs.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• Larger FAISS/ScaNN vector index.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• GPU once for embedding; CPU at query time.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When it shines</a:t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Small or noisy corpora.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Queries with rare, specific terms.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• Open-domain QA, long-form search.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• “Fast answer” chatbots needing semantic matches.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Limitations</a:t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Misses synonyms (“car” ≠ “automobile”).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Needs upkeep: re-train or refresh embeddings as corpus grows.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ctrTitle"/>
          </p:nvPr>
        </p:nvSpPr>
        <p:spPr>
          <a:xfrm>
            <a:off x="342870" y="103700"/>
            <a:ext cx="9372600" cy="1359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00"/>
              <a:t>Bert for questions answering </a:t>
            </a:r>
            <a:endParaRPr sz="4500"/>
          </a:p>
        </p:txBody>
      </p:sp>
      <p:cxnSp>
        <p:nvCxnSpPr>
          <p:cNvPr id="78" name="Google Shape;78;p16"/>
          <p:cNvCxnSpPr/>
          <p:nvPr/>
        </p:nvCxnSpPr>
        <p:spPr>
          <a:xfrm flipH="1" rot="10800000">
            <a:off x="30800" y="1491662"/>
            <a:ext cx="99660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79" name="Google Shape;79;p16"/>
          <p:cNvGraphicFramePr/>
          <p:nvPr/>
        </p:nvGraphicFramePr>
        <p:xfrm>
          <a:off x="952500" y="351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{B1456AD8-3828-4D45-A21B-836AA37D4A14}</a:tableStyleId>
              </a:tblPr>
              <a:tblGrid>
                <a:gridCol w="4076700"/>
                <a:gridCol w="4076700"/>
              </a:tblGrid>
              <a:tr h="7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Head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What it predicts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Start-token classifier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probability each token is </a:t>
                      </a:r>
                      <a:r>
                        <a:rPr b="1" lang="en" sz="1100"/>
                        <a:t>first</a:t>
                      </a:r>
                      <a:r>
                        <a:rPr lang="en" sz="1100"/>
                        <a:t> word of the answer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End-token classifier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probability each token is </a:t>
                      </a:r>
                      <a:r>
                        <a:rPr b="1" lang="en" sz="1100"/>
                        <a:t>last</a:t>
                      </a:r>
                      <a:r>
                        <a:rPr lang="en" sz="1100"/>
                        <a:t> word of the answer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0" name="Google Shape;80;p16" title="Screenshot 2025-04-27 at 12.01.01.png"/>
          <p:cNvPicPr preferRelativeResize="0"/>
          <p:nvPr/>
        </p:nvPicPr>
        <p:blipFill rotWithShape="1">
          <a:blip r:embed="rId3">
            <a:alphaModFix/>
          </a:blip>
          <a:srcRect b="0" l="0" r="8592" t="0"/>
          <a:stretch/>
        </p:blipFill>
        <p:spPr>
          <a:xfrm>
            <a:off x="1864875" y="2450175"/>
            <a:ext cx="6328649" cy="55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342875" y="103700"/>
            <a:ext cx="9276000" cy="9831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BM25 vs HNSW</a:t>
            </a:r>
            <a:endParaRPr sz="4500"/>
          </a:p>
        </p:txBody>
      </p:sp>
      <p:cxnSp>
        <p:nvCxnSpPr>
          <p:cNvPr id="86" name="Google Shape;86;p17"/>
          <p:cNvCxnSpPr/>
          <p:nvPr/>
        </p:nvCxnSpPr>
        <p:spPr>
          <a:xfrm flipH="1" rot="10800000">
            <a:off x="46200" y="1065512"/>
            <a:ext cx="99660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87" name="Google Shape;87;p17"/>
          <p:cNvGraphicFramePr/>
          <p:nvPr/>
        </p:nvGraphicFramePr>
        <p:xfrm>
          <a:off x="904175" y="126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{B1456AD8-3828-4D45-A21B-836AA37D4A14}</a:tableStyleId>
              </a:tblPr>
              <a:tblGrid>
                <a:gridCol w="4076700"/>
                <a:gridCol w="4076700"/>
              </a:tblGrid>
              <a:tr h="341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BM25 </a:t>
                      </a:r>
                      <a:r>
                        <a:rPr b="1" i="1" lang="en" sz="1100"/>
                        <a:t>(“smart TF-IDF”)</a:t>
                      </a:r>
                      <a:endParaRPr b="1" i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HNSW</a:t>
                      </a:r>
                      <a:r>
                        <a:rPr b="1" lang="en" sz="1100"/>
                        <a:t> </a:t>
                      </a:r>
                      <a:r>
                        <a:rPr b="1" i="1" lang="en" sz="1100"/>
                        <a:t>(</a:t>
                      </a:r>
                      <a:r>
                        <a:rPr b="1" i="1" lang="en" sz="1100"/>
                        <a:t>Hierarchical</a:t>
                      </a:r>
                      <a:r>
                        <a:rPr b="1" i="1" lang="en" sz="1100"/>
                        <a:t> Navigable Small Worlds)</a:t>
                      </a:r>
                      <a:endParaRPr b="1" i="1" sz="1100"/>
                    </a:p>
                  </a:txBody>
                  <a:tcPr marT="91425" marB="91425" marR="91425" marL="91425"/>
                </a:tc>
              </a:tr>
              <a:tr h="248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How it works</a:t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Counts query words in each doc.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Boosts </a:t>
                      </a:r>
                      <a:r>
                        <a:rPr i="1" lang="en" sz="1100"/>
                        <a:t>rare</a:t>
                      </a:r>
                      <a:r>
                        <a:rPr lang="en" sz="1100"/>
                        <a:t> words, trims gains after a few repeats.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Normalises for doc length.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How it works</a:t>
                      </a:r>
                      <a:endParaRPr sz="1100"/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Roboto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Multiple layers of NSW (Navigable Small World) graphs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Roboto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Top layers: Few nodes with long-range connections (fast navigation)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Roboto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Bottom layers: All nodes with short-range connections (precision)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Roboto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Inspired by </a:t>
                      </a:r>
                      <a:r>
                        <a:rPr i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probabilistic skip lists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not traditional linked lists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100"/>
                        <a:t>• Uses Cosine similarity to pick top-k passages after embedding with BERT.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54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Signal type</a:t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Lexical – exact word overlap.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Semantic – captures synonyms and paraphrases.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Training need</a:t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None (formula-based).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Needs document/context and ID.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3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Speed / cost</a:t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Tiny index (BM25 scores from term lists).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CPU-friendly, no GPUs.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• Fast since O(logN) for search of queries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• Memory intensive 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• CPU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3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When it shines</a:t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Small or noisy corpora.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• Queries with rare, specific terms.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• Can easily add new vectors to existing network.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• Fast context </a:t>
                      </a:r>
                      <a:r>
                        <a:rPr lang="en"/>
                        <a:t>retrieval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• Lower latency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Limitations</a:t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Misses synonyms (“car” ≠ “automobile”).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Limitations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Needs a ton of memory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Need to change ids or adjust params as you add more data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342870" y="103700"/>
            <a:ext cx="9372600" cy="1359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00"/>
              <a:t>How HNSW works</a:t>
            </a:r>
            <a:r>
              <a:rPr lang="en" sz="4500"/>
              <a:t> </a:t>
            </a:r>
            <a:endParaRPr sz="4500"/>
          </a:p>
        </p:txBody>
      </p:sp>
      <p:cxnSp>
        <p:nvCxnSpPr>
          <p:cNvPr id="93" name="Google Shape;93;p18"/>
          <p:cNvCxnSpPr/>
          <p:nvPr/>
        </p:nvCxnSpPr>
        <p:spPr>
          <a:xfrm flipH="1" rot="10800000">
            <a:off x="30800" y="1491662"/>
            <a:ext cx="99660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8" title="Image 4-27-25 at 1.36 P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200" y="1541300"/>
            <a:ext cx="7534674" cy="4709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ctrTitle"/>
          </p:nvPr>
        </p:nvSpPr>
        <p:spPr>
          <a:xfrm>
            <a:off x="342870" y="103700"/>
            <a:ext cx="9372600" cy="13596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results</a:t>
            </a:r>
            <a:endParaRPr/>
          </a:p>
        </p:txBody>
      </p:sp>
      <p:cxnSp>
        <p:nvCxnSpPr>
          <p:cNvPr id="100" name="Google Shape;100;p19"/>
          <p:cNvCxnSpPr/>
          <p:nvPr/>
        </p:nvCxnSpPr>
        <p:spPr>
          <a:xfrm flipH="1" rot="10800000">
            <a:off x="30800" y="1491662"/>
            <a:ext cx="99660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875" y="2614232"/>
            <a:ext cx="4617999" cy="2543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8800" y="2614240"/>
            <a:ext cx="4617999" cy="254392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1710475" y="5158175"/>
            <a:ext cx="188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Exact Match performance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6746400" y="5158175"/>
            <a:ext cx="188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Token level F1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ctrTitle"/>
          </p:nvPr>
        </p:nvSpPr>
        <p:spPr>
          <a:xfrm>
            <a:off x="342870" y="103700"/>
            <a:ext cx="9372600" cy="13596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results</a:t>
            </a:r>
            <a:endParaRPr/>
          </a:p>
        </p:txBody>
      </p:sp>
      <p:cxnSp>
        <p:nvCxnSpPr>
          <p:cNvPr id="110" name="Google Shape;110;p20"/>
          <p:cNvCxnSpPr/>
          <p:nvPr/>
        </p:nvCxnSpPr>
        <p:spPr>
          <a:xfrm flipH="1" rot="10800000">
            <a:off x="30800" y="1491662"/>
            <a:ext cx="99660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20"/>
          <p:cNvSpPr txBox="1"/>
          <p:nvPr/>
        </p:nvSpPr>
        <p:spPr>
          <a:xfrm>
            <a:off x="422600" y="1737225"/>
            <a:ext cx="397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Average</a:t>
            </a:r>
            <a:r>
              <a:rPr lang="en" sz="1100">
                <a:solidFill>
                  <a:schemeClr val="dk1"/>
                </a:solidFill>
              </a:rPr>
              <a:t> cosine score of about .37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Average Relevance score of 31.3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4611125" y="6320000"/>
            <a:ext cx="188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Llama 3 8B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3675" y="2307600"/>
            <a:ext cx="5486400" cy="3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342875" y="3321825"/>
            <a:ext cx="188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Llama 4 17B 16E is still running currently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0800" y="2224088"/>
            <a:ext cx="5486400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ctrTitle"/>
          </p:nvPr>
        </p:nvSpPr>
        <p:spPr>
          <a:xfrm>
            <a:off x="342870" y="103700"/>
            <a:ext cx="9372600" cy="13596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Rag still </a:t>
            </a:r>
            <a:r>
              <a:rPr lang="en"/>
              <a:t>useful ?</a:t>
            </a:r>
            <a:endParaRPr/>
          </a:p>
        </p:txBody>
      </p:sp>
      <p:cxnSp>
        <p:nvCxnSpPr>
          <p:cNvPr id="121" name="Google Shape;121;p21"/>
          <p:cNvCxnSpPr/>
          <p:nvPr/>
        </p:nvCxnSpPr>
        <p:spPr>
          <a:xfrm flipH="1" rot="10800000">
            <a:off x="30800" y="1491662"/>
            <a:ext cx="99660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6075" y="2807925"/>
            <a:ext cx="4449399" cy="294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877" y="2807925"/>
            <a:ext cx="4608573" cy="2941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/>
        </p:nvSpPr>
        <p:spPr>
          <a:xfrm>
            <a:off x="1705763" y="5693725"/>
            <a:ext cx="188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Context length growth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6549363" y="5693725"/>
            <a:ext cx="188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Rag vs No rag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