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10287000" cx="18288000"/>
  <p:notesSz cx="6858000" cy="9144000"/>
  <p:embeddedFontLst>
    <p:embeddedFont>
      <p:font typeface="Robo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2" roundtripDataSignature="AMtx7mjvYVmv0KQK49NFlV5Hf7D/vV/p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ADC45B8-90F7-4D56-80D7-F929288013C0}">
  <a:tblStyle styleId="{3ADC45B8-90F7-4D56-80D7-F929288013C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Roboto-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5.xml"/><Relationship Id="rId10" Type="http://schemas.openxmlformats.org/officeDocument/2006/relationships/slide" Target="slides/slide4.xml"/><Relationship Id="rId32"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1b8a4901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31b8a49013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Chehak</a:t>
            </a:r>
            <a:br>
              <a:rPr lang="en-US"/>
            </a:br>
            <a:r>
              <a:rPr lang="en-US"/>
              <a:t>The problem of drug-drug interactions has become more pressing with the increasing number of drugs available on the market. As pharmaceutical development becomes more complex, harmful DDIs can compromise drug efficacy, increase toxicity, or lead to unexpected side effects. These interactions pose serious risks to patient safety and healthcare outcomes. Given this context, there is an urgent need for robust, predictive methods to identify potential interactions early in the drug development process, minimizing adverse effects and improving therapeutic success rates.</a:t>
            </a:r>
            <a:br>
              <a:rPr lang="en-US"/>
            </a:br>
            <a:r>
              <a:rPr lang="en-US"/>
              <a:t>We sourced the original dataset from DDI data involving alimentary tract and metabolism drugs, mapped drug names to PubChem CIDs, and retrieved molecular descriptors from PubChem.</a:t>
            </a:r>
            <a:endParaRPr/>
          </a:p>
          <a:p>
            <a:pPr indent="0" lvl="0" marL="0" rtl="0" algn="l">
              <a:lnSpc>
                <a:spcPct val="115000"/>
              </a:lnSpc>
              <a:spcBef>
                <a:spcPts val="1200"/>
              </a:spcBef>
              <a:spcAft>
                <a:spcPts val="0"/>
              </a:spcAft>
              <a:buClr>
                <a:schemeClr val="dk1"/>
              </a:buClr>
              <a:buSzPts val="1100"/>
              <a:buFont typeface="Arial"/>
              <a:buNone/>
            </a:pPr>
            <a:r>
              <a:rPr lang="en-US"/>
              <a:t>To refine the data, we created a second dataset by simplifying the original, keeping only one CID per drug. This allows us to compare how models perform with and without duplicate CIDs while using chemical properties as predictors and interaction labels as targets.</a:t>
            </a:r>
            <a:endParaRPr/>
          </a:p>
          <a:p>
            <a:pPr indent="0" lvl="0" marL="0" rtl="0" algn="l">
              <a:spcBef>
                <a:spcPts val="1200"/>
              </a:spcBef>
              <a:spcAft>
                <a:spcPts val="0"/>
              </a:spcAft>
              <a:buNone/>
            </a:pPr>
            <a:r>
              <a:t/>
            </a:r>
            <a:endParaRPr/>
          </a:p>
        </p:txBody>
      </p:sp>
      <p:sp>
        <p:nvSpPr>
          <p:cNvPr id="104" name="Google Shape;10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1c365ece61_0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1c365ece61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 significant portion of our time was dedicated to data cleaning and preprocessing. This experience mirrored real-world scenarios, where raw data often comes with challenges like incompleteness, redundancy, and imbalance. Working through these issues gave us a deeper appreciation of the complexity of real-world data and the critical role of preprocessing in any machine-learning pipeline.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Franco</a:t>
            </a:r>
            <a:endParaRPr/>
          </a:p>
        </p:txBody>
      </p:sp>
      <p:sp>
        <p:nvSpPr>
          <p:cNvPr id="145" name="Google Shape;14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1b8a490130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Franco</a:t>
            </a:r>
            <a:endParaRPr/>
          </a:p>
        </p:txBody>
      </p:sp>
      <p:sp>
        <p:nvSpPr>
          <p:cNvPr id="161" name="Google Shape;161;g31b8a490130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1c365ece61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Franco</a:t>
            </a:r>
            <a:endParaRPr/>
          </a:p>
        </p:txBody>
      </p:sp>
      <p:sp>
        <p:nvSpPr>
          <p:cNvPr id="177" name="Google Shape;177;g31c365ece61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1c365ece6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40000"/>
              </a:lnSpc>
              <a:spcBef>
                <a:spcPts val="0"/>
              </a:spcBef>
              <a:spcAft>
                <a:spcPts val="0"/>
              </a:spcAft>
              <a:buClr>
                <a:schemeClr val="dk1"/>
              </a:buClr>
              <a:buSzPts val="1100"/>
              <a:buFont typeface="Arial"/>
              <a:buNone/>
            </a:pPr>
            <a:r>
              <a:rPr b="1" lang="en-US" sz="2100">
                <a:solidFill>
                  <a:schemeClr val="dk1"/>
                </a:solidFill>
              </a:rPr>
              <a:t>Franco</a:t>
            </a:r>
            <a:br>
              <a:rPr b="1" lang="en-US" sz="2100">
                <a:solidFill>
                  <a:schemeClr val="dk1"/>
                </a:solidFill>
              </a:rPr>
            </a:br>
            <a:r>
              <a:rPr b="1" lang="en-US" sz="2100">
                <a:solidFill>
                  <a:schemeClr val="dk1"/>
                </a:solidFill>
              </a:rPr>
              <a:t>Distribution of Unique CIDs per Drug Name</a:t>
            </a:r>
            <a:endParaRPr b="1" sz="2100">
              <a:solidFill>
                <a:schemeClr val="dk1"/>
              </a:solidFill>
            </a:endParaRPr>
          </a:p>
          <a:p>
            <a:pPr indent="0" lvl="0" marL="0" rtl="0" algn="l">
              <a:lnSpc>
                <a:spcPct val="140000"/>
              </a:lnSpc>
              <a:spcBef>
                <a:spcPts val="0"/>
              </a:spcBef>
              <a:spcAft>
                <a:spcPts val="0"/>
              </a:spcAft>
              <a:buClr>
                <a:schemeClr val="dk1"/>
              </a:buClr>
              <a:buSzPts val="1100"/>
              <a:buFont typeface="Arial"/>
              <a:buNone/>
            </a:pPr>
            <a:r>
              <a:rPr lang="en-US" sz="2100">
                <a:solidFill>
                  <a:schemeClr val="dk1"/>
                </a:solidFill>
              </a:rPr>
              <a:t>The  analysis explores the unique CID (PubChem Compound ID) per drug. Each drug can have multiple CIDs corresponding to different versions or structures, leading to varying drug name-CID associations.</a:t>
            </a:r>
            <a:endParaRPr sz="37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193" name="Google Shape;193;g31c365ece61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1c365ece61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2100">
                <a:solidFill>
                  <a:schemeClr val="dk1"/>
                </a:solidFill>
              </a:rPr>
              <a:t>Franco</a:t>
            </a:r>
            <a:br>
              <a:rPr b="1" lang="en-US" sz="2100">
                <a:solidFill>
                  <a:schemeClr val="dk1"/>
                </a:solidFill>
              </a:rPr>
            </a:br>
            <a:r>
              <a:rPr b="1" lang="en-US" sz="2100">
                <a:solidFill>
                  <a:schemeClr val="dk1"/>
                </a:solidFill>
              </a:rPr>
              <a:t>D</a:t>
            </a:r>
            <a:r>
              <a:rPr b="1" lang="en-US" sz="2100">
                <a:solidFill>
                  <a:schemeClr val="dk1"/>
                </a:solidFill>
              </a:rPr>
              <a:t>istribution of Drug Interaction Levels</a:t>
            </a:r>
            <a:br>
              <a:rPr b="1" lang="en-US" sz="2100">
                <a:solidFill>
                  <a:schemeClr val="dk1"/>
                </a:solidFill>
              </a:rPr>
            </a:br>
            <a:r>
              <a:rPr lang="en-US" sz="2100">
                <a:solidFill>
                  <a:schemeClr val="dk1"/>
                </a:solidFill>
              </a:rPr>
              <a:t>The first visualization shows the distribution of drug interaction levels across the dataset. The interaction levels are classified as:</a:t>
            </a:r>
            <a:endParaRPr sz="2100">
              <a:solidFill>
                <a:schemeClr val="dk1"/>
              </a:solidFill>
            </a:endParaRPr>
          </a:p>
          <a:p>
            <a:pPr indent="0" lvl="0" marL="457200" rtl="0" algn="l">
              <a:lnSpc>
                <a:spcPct val="115000"/>
              </a:lnSpc>
              <a:spcBef>
                <a:spcPts val="1200"/>
              </a:spcBef>
              <a:spcAft>
                <a:spcPts val="0"/>
              </a:spcAft>
              <a:buClr>
                <a:schemeClr val="dk1"/>
              </a:buClr>
              <a:buSzPts val="1100"/>
              <a:buFont typeface="Arial"/>
              <a:buNone/>
            </a:pPr>
            <a:r>
              <a:rPr b="1" lang="en-US" sz="2100">
                <a:solidFill>
                  <a:schemeClr val="dk1"/>
                </a:solidFill>
              </a:rPr>
              <a:t>Moderate</a:t>
            </a:r>
            <a:r>
              <a:rPr lang="en-US" sz="2100">
                <a:solidFill>
                  <a:schemeClr val="dk1"/>
                </a:solidFill>
              </a:rPr>
              <a:t>: Drugs with moderate interactions.</a:t>
            </a:r>
            <a:endParaRPr sz="2100">
              <a:solidFill>
                <a:schemeClr val="dk1"/>
              </a:solidFill>
            </a:endParaRPr>
          </a:p>
          <a:p>
            <a:pPr indent="0" lvl="0" marL="457200" rtl="0" algn="l">
              <a:lnSpc>
                <a:spcPct val="115000"/>
              </a:lnSpc>
              <a:spcBef>
                <a:spcPts val="1200"/>
              </a:spcBef>
              <a:spcAft>
                <a:spcPts val="0"/>
              </a:spcAft>
              <a:buClr>
                <a:schemeClr val="dk1"/>
              </a:buClr>
              <a:buSzPts val="1100"/>
              <a:buFont typeface="Arial"/>
              <a:buNone/>
            </a:pPr>
            <a:r>
              <a:rPr b="1" lang="en-US" sz="2100">
                <a:solidFill>
                  <a:schemeClr val="dk1"/>
                </a:solidFill>
              </a:rPr>
              <a:t>Minor</a:t>
            </a:r>
            <a:r>
              <a:rPr lang="en-US" sz="2100">
                <a:solidFill>
                  <a:schemeClr val="dk1"/>
                </a:solidFill>
              </a:rPr>
              <a:t>: Drugs with minor interactions.</a:t>
            </a:r>
            <a:endParaRPr sz="2100">
              <a:solidFill>
                <a:schemeClr val="dk1"/>
              </a:solidFill>
            </a:endParaRPr>
          </a:p>
          <a:p>
            <a:pPr indent="0" lvl="0" marL="457200" rtl="0" algn="l">
              <a:lnSpc>
                <a:spcPct val="115000"/>
              </a:lnSpc>
              <a:spcBef>
                <a:spcPts val="1200"/>
              </a:spcBef>
              <a:spcAft>
                <a:spcPts val="0"/>
              </a:spcAft>
              <a:buClr>
                <a:schemeClr val="dk1"/>
              </a:buClr>
              <a:buSzPts val="1100"/>
              <a:buFont typeface="Arial"/>
              <a:buNone/>
            </a:pPr>
            <a:r>
              <a:rPr b="1" lang="en-US" sz="2100">
                <a:solidFill>
                  <a:schemeClr val="dk1"/>
                </a:solidFill>
              </a:rPr>
              <a:t>Major</a:t>
            </a:r>
            <a:r>
              <a:rPr lang="en-US" sz="2100">
                <a:solidFill>
                  <a:schemeClr val="dk1"/>
                </a:solidFill>
              </a:rPr>
              <a:t>: Drugs with major interactions.</a:t>
            </a:r>
            <a:endParaRPr sz="2100">
              <a:solidFill>
                <a:schemeClr val="dk1"/>
              </a:solidFill>
            </a:endParaRPr>
          </a:p>
          <a:p>
            <a:pPr indent="0" lvl="0" marL="457200" rtl="0" algn="l">
              <a:lnSpc>
                <a:spcPct val="140000"/>
              </a:lnSpc>
              <a:spcBef>
                <a:spcPts val="120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None/>
            </a:pPr>
            <a:r>
              <a:t/>
            </a:r>
            <a:endParaRPr/>
          </a:p>
        </p:txBody>
      </p:sp>
      <p:sp>
        <p:nvSpPr>
          <p:cNvPr id="201" name="Google Shape;201;g31c365ece61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1c365ece61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100">
                <a:solidFill>
                  <a:schemeClr val="dk1"/>
                </a:solidFill>
              </a:rPr>
              <a:t>Franco</a:t>
            </a:r>
            <a:br>
              <a:rPr b="1" lang="en-US" sz="2100">
                <a:solidFill>
                  <a:schemeClr val="dk1"/>
                </a:solidFill>
              </a:rPr>
            </a:br>
            <a:r>
              <a:rPr b="1" lang="en-US" sz="2100">
                <a:solidFill>
                  <a:schemeClr val="dk1"/>
                </a:solidFill>
              </a:rPr>
              <a:t>Correlation Matrix - Group A vs Group B Drug Interactions</a:t>
            </a:r>
            <a:endParaRPr b="1" sz="21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2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2100">
                <a:solidFill>
                  <a:schemeClr val="dk1"/>
                </a:solidFill>
              </a:rPr>
              <a:t>Drugs within Group A show high correlation with each other, indicating that they might exhibit similar drug-drug interaction behavior.</a:t>
            </a:r>
            <a:endParaRPr sz="2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2100">
                <a:solidFill>
                  <a:schemeClr val="dk1"/>
                </a:solidFill>
              </a:rPr>
              <a:t>Group B drugs also exhibit high internal correlation.</a:t>
            </a:r>
            <a:endParaRPr sz="2100">
              <a:solidFill>
                <a:schemeClr val="dk1"/>
              </a:solidFill>
            </a:endParaRPr>
          </a:p>
          <a:p>
            <a:pPr indent="0" lvl="0" marL="0" rtl="0" algn="l">
              <a:spcBef>
                <a:spcPts val="0"/>
              </a:spcBef>
              <a:spcAft>
                <a:spcPts val="0"/>
              </a:spcAft>
              <a:buNone/>
            </a:pPr>
            <a:r>
              <a:t/>
            </a:r>
            <a:endParaRPr/>
          </a:p>
        </p:txBody>
      </p:sp>
      <p:sp>
        <p:nvSpPr>
          <p:cNvPr id="209" name="Google Shape;209;g31c365ece61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1c365ece61_14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Marius</a:t>
            </a:r>
            <a:endParaRPr/>
          </a:p>
        </p:txBody>
      </p:sp>
      <p:sp>
        <p:nvSpPr>
          <p:cNvPr id="217" name="Google Shape;217;g31c365ece61_14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1c365ece61_14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Marius</a:t>
            </a:r>
            <a:endParaRPr/>
          </a:p>
        </p:txBody>
      </p:sp>
      <p:sp>
        <p:nvSpPr>
          <p:cNvPr id="227" name="Google Shape;227;g31c365ece61_141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222b1bb31b9c078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Marius</a:t>
            </a:r>
            <a:endParaRPr/>
          </a:p>
        </p:txBody>
      </p:sp>
      <p:sp>
        <p:nvSpPr>
          <p:cNvPr id="237" name="Google Shape;237;g1222b1bb31b9c078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1c365ece61_144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Marius</a:t>
            </a:r>
            <a:endParaRPr/>
          </a:p>
        </p:txBody>
      </p:sp>
      <p:sp>
        <p:nvSpPr>
          <p:cNvPr id="247" name="Google Shape;247;g31c365ece61_144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1c365ece61_144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Marius</a:t>
            </a:r>
            <a:endParaRPr/>
          </a:p>
        </p:txBody>
      </p:sp>
      <p:sp>
        <p:nvSpPr>
          <p:cNvPr id="257" name="Google Shape;257;g31c365ece61_144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1c365ece61_144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Marius</a:t>
            </a:r>
            <a:endParaRPr/>
          </a:p>
        </p:txBody>
      </p:sp>
      <p:sp>
        <p:nvSpPr>
          <p:cNvPr id="267" name="Google Shape;267;g31c365ece61_144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1c365ece61_18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Marius</a:t>
            </a:r>
            <a:endParaRPr/>
          </a:p>
        </p:txBody>
      </p:sp>
      <p:sp>
        <p:nvSpPr>
          <p:cNvPr id="277" name="Google Shape;277;g31c365ece61_18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1c365ece61_18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Marius</a:t>
            </a:r>
            <a:endParaRPr/>
          </a:p>
        </p:txBody>
      </p:sp>
      <p:sp>
        <p:nvSpPr>
          <p:cNvPr id="287" name="Google Shape;287;g31c365ece61_18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1c365ece61_18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Marius</a:t>
            </a:r>
            <a:endParaRPr/>
          </a:p>
        </p:txBody>
      </p:sp>
      <p:sp>
        <p:nvSpPr>
          <p:cNvPr id="297" name="Google Shape;297;g31c365ece61_18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a46bd76c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Marius</a:t>
            </a:r>
            <a:endParaRPr/>
          </a:p>
        </p:txBody>
      </p:sp>
      <p:sp>
        <p:nvSpPr>
          <p:cNvPr id="307" name="Google Shape;307;g2a46bd76c4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1c365ece61_5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Chehak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Through this project, we learned to preprocess complex datasets by handling duplicate CIDs and balancing class distribution using SMOTE. Comparing models with datasets having multiple and single CIDs revealed how redundancy and data structure impact model performance.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We also gained insights into the strengths and weaknesses of models like Random Forest, LightGBM, and XGBoost for handling imbalanced classification problems in drug-drug interaction prediction. This highlights the importance of robust preprocessing and evaluation techniques in achieving reliable predictive outcomes.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
        <p:nvSpPr>
          <p:cNvPr id="316" name="Google Shape;316;g31c365ece61_5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d66fe037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g2d66fe037e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7"/>
          <p:cNvSpPr/>
          <p:nvPr>
            <p:ph idx="2" type="pic"/>
          </p:nvPr>
        </p:nvSpPr>
        <p:spPr>
          <a:xfrm>
            <a:off x="1792288" y="612775"/>
            <a:ext cx="5486400" cy="4114800"/>
          </a:xfrm>
          <a:prstGeom prst="rect">
            <a:avLst/>
          </a:prstGeom>
          <a:noFill/>
          <a:ln>
            <a:noFill/>
          </a:ln>
        </p:spPr>
      </p:sp>
      <p:sp>
        <p:nvSpPr>
          <p:cNvPr id="64" name="Google Shape;64;p3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8.png"/><Relationship Id="rId10" Type="http://schemas.openxmlformats.org/officeDocument/2006/relationships/image" Target="../media/image6.png"/><Relationship Id="rId9" Type="http://schemas.openxmlformats.org/officeDocument/2006/relationships/image" Target="../media/image13.png"/><Relationship Id="rId5" Type="http://schemas.openxmlformats.org/officeDocument/2006/relationships/image" Target="../media/image1.png"/><Relationship Id="rId6" Type="http://schemas.openxmlformats.org/officeDocument/2006/relationships/image" Target="../media/image11.png"/><Relationship Id="rId7" Type="http://schemas.openxmlformats.org/officeDocument/2006/relationships/image" Target="../media/image33.png"/><Relationship Id="rId8"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4.png"/><Relationship Id="rId4" Type="http://schemas.openxmlformats.org/officeDocument/2006/relationships/image" Target="../media/image4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jpg"/><Relationship Id="rId4" Type="http://schemas.openxmlformats.org/officeDocument/2006/relationships/image" Target="../media/image2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jpg"/><Relationship Id="rId4" Type="http://schemas.openxmlformats.org/officeDocument/2006/relationships/image" Target="../media/image2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3.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7.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5.png"/><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8.png"/><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5.png"/><Relationship Id="rId4" Type="http://schemas.openxmlformats.org/officeDocument/2006/relationships/image" Target="../media/image27.png"/><Relationship Id="rId5" Type="http://schemas.openxmlformats.org/officeDocument/2006/relationships/image" Target="../media/image32.png"/><Relationship Id="rId6"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0.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F1F4"/>
        </a:solidFill>
      </p:bgPr>
    </p:bg>
    <p:spTree>
      <p:nvGrpSpPr>
        <p:cNvPr id="83" name="Shape 83"/>
        <p:cNvGrpSpPr/>
        <p:nvPr/>
      </p:nvGrpSpPr>
      <p:grpSpPr>
        <a:xfrm>
          <a:off x="0" y="0"/>
          <a:ext cx="0" cy="0"/>
          <a:chOff x="0" y="0"/>
          <a:chExt cx="0" cy="0"/>
        </a:xfrm>
      </p:grpSpPr>
      <p:grpSp>
        <p:nvGrpSpPr>
          <p:cNvPr id="84" name="Google Shape;84;g31b8a490130_0_0"/>
          <p:cNvGrpSpPr/>
          <p:nvPr/>
        </p:nvGrpSpPr>
        <p:grpSpPr>
          <a:xfrm>
            <a:off x="11920055" y="0"/>
            <a:ext cx="6368708" cy="6981544"/>
            <a:chOff x="0" y="0"/>
            <a:chExt cx="1677300" cy="1838700"/>
          </a:xfrm>
        </p:grpSpPr>
        <p:sp>
          <p:nvSpPr>
            <p:cNvPr id="85" name="Google Shape;85;g31b8a490130_0_0"/>
            <p:cNvSpPr/>
            <p:nvPr/>
          </p:nvSpPr>
          <p:spPr>
            <a:xfrm>
              <a:off x="0" y="0"/>
              <a:ext cx="1677154" cy="1838654"/>
            </a:xfrm>
            <a:custGeom>
              <a:rect b="b" l="l" r="r" t="t"/>
              <a:pathLst>
                <a:path extrusionOk="0" h="1838654" w="1677154">
                  <a:moveTo>
                    <a:pt x="0" y="0"/>
                  </a:moveTo>
                  <a:lnTo>
                    <a:pt x="1677154" y="0"/>
                  </a:lnTo>
                  <a:lnTo>
                    <a:pt x="1677154" y="1838654"/>
                  </a:lnTo>
                  <a:lnTo>
                    <a:pt x="0" y="1838654"/>
                  </a:lnTo>
                  <a:close/>
                </a:path>
              </a:pathLst>
            </a:custGeom>
            <a:solidFill>
              <a:srgbClr val="A1D4E1"/>
            </a:solidFill>
            <a:ln>
              <a:noFill/>
            </a:ln>
          </p:spPr>
        </p:sp>
        <p:sp>
          <p:nvSpPr>
            <p:cNvPr id="86" name="Google Shape;86;g31b8a490130_0_0"/>
            <p:cNvSpPr txBox="1"/>
            <p:nvPr/>
          </p:nvSpPr>
          <p:spPr>
            <a:xfrm>
              <a:off x="0" y="0"/>
              <a:ext cx="1677300" cy="18387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7" name="Google Shape;87;g31b8a490130_0_0"/>
          <p:cNvGrpSpPr/>
          <p:nvPr/>
        </p:nvGrpSpPr>
        <p:grpSpPr>
          <a:xfrm>
            <a:off x="0" y="6954023"/>
            <a:ext cx="3973481" cy="3333086"/>
            <a:chOff x="0" y="0"/>
            <a:chExt cx="1046479" cy="877821"/>
          </a:xfrm>
        </p:grpSpPr>
        <p:sp>
          <p:nvSpPr>
            <p:cNvPr id="88" name="Google Shape;88;g31b8a490130_0_0"/>
            <p:cNvSpPr/>
            <p:nvPr/>
          </p:nvSpPr>
          <p:spPr>
            <a:xfrm>
              <a:off x="0" y="0"/>
              <a:ext cx="1046479" cy="877821"/>
            </a:xfrm>
            <a:custGeom>
              <a:rect b="b" l="l" r="r" t="t"/>
              <a:pathLst>
                <a:path extrusionOk="0" h="877821" w="1046479">
                  <a:moveTo>
                    <a:pt x="0" y="0"/>
                  </a:moveTo>
                  <a:lnTo>
                    <a:pt x="1046479" y="0"/>
                  </a:lnTo>
                  <a:lnTo>
                    <a:pt x="1046479" y="877821"/>
                  </a:lnTo>
                  <a:lnTo>
                    <a:pt x="0" y="877821"/>
                  </a:lnTo>
                  <a:close/>
                </a:path>
              </a:pathLst>
            </a:custGeom>
            <a:solidFill>
              <a:srgbClr val="F1B756"/>
            </a:solidFill>
            <a:ln>
              <a:noFill/>
            </a:ln>
          </p:spPr>
        </p:sp>
        <p:sp>
          <p:nvSpPr>
            <p:cNvPr id="89" name="Google Shape;89;g31b8a490130_0_0"/>
            <p:cNvSpPr txBox="1"/>
            <p:nvPr/>
          </p:nvSpPr>
          <p:spPr>
            <a:xfrm>
              <a:off x="0" y="0"/>
              <a:ext cx="1046400" cy="8778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0" name="Google Shape;90;g31b8a490130_0_0"/>
          <p:cNvGrpSpPr/>
          <p:nvPr/>
        </p:nvGrpSpPr>
        <p:grpSpPr>
          <a:xfrm>
            <a:off x="3973352" y="6954023"/>
            <a:ext cx="3973481" cy="3333086"/>
            <a:chOff x="0" y="0"/>
            <a:chExt cx="1046479" cy="877821"/>
          </a:xfrm>
        </p:grpSpPr>
        <p:sp>
          <p:nvSpPr>
            <p:cNvPr id="91" name="Google Shape;91;g31b8a490130_0_0"/>
            <p:cNvSpPr/>
            <p:nvPr/>
          </p:nvSpPr>
          <p:spPr>
            <a:xfrm>
              <a:off x="0" y="0"/>
              <a:ext cx="1046479" cy="877821"/>
            </a:xfrm>
            <a:custGeom>
              <a:rect b="b" l="l" r="r" t="t"/>
              <a:pathLst>
                <a:path extrusionOk="0" h="877821" w="1046479">
                  <a:moveTo>
                    <a:pt x="0" y="0"/>
                  </a:moveTo>
                  <a:lnTo>
                    <a:pt x="1046479" y="0"/>
                  </a:lnTo>
                  <a:lnTo>
                    <a:pt x="1046479" y="877821"/>
                  </a:lnTo>
                  <a:lnTo>
                    <a:pt x="0" y="877821"/>
                  </a:lnTo>
                  <a:close/>
                </a:path>
              </a:pathLst>
            </a:custGeom>
            <a:solidFill>
              <a:srgbClr val="A1D4E1"/>
            </a:solidFill>
            <a:ln>
              <a:noFill/>
            </a:ln>
          </p:spPr>
        </p:sp>
        <p:sp>
          <p:nvSpPr>
            <p:cNvPr id="92" name="Google Shape;92;g31b8a490130_0_0"/>
            <p:cNvSpPr txBox="1"/>
            <p:nvPr/>
          </p:nvSpPr>
          <p:spPr>
            <a:xfrm>
              <a:off x="0" y="0"/>
              <a:ext cx="1046400" cy="8778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3" name="Google Shape;93;g31b8a490130_0_0"/>
          <p:cNvGrpSpPr/>
          <p:nvPr/>
        </p:nvGrpSpPr>
        <p:grpSpPr>
          <a:xfrm>
            <a:off x="7946703" y="6954023"/>
            <a:ext cx="3973481" cy="3333086"/>
            <a:chOff x="0" y="0"/>
            <a:chExt cx="1046479" cy="877821"/>
          </a:xfrm>
        </p:grpSpPr>
        <p:sp>
          <p:nvSpPr>
            <p:cNvPr id="94" name="Google Shape;94;g31b8a490130_0_0"/>
            <p:cNvSpPr/>
            <p:nvPr/>
          </p:nvSpPr>
          <p:spPr>
            <a:xfrm>
              <a:off x="0" y="0"/>
              <a:ext cx="1046479" cy="877821"/>
            </a:xfrm>
            <a:custGeom>
              <a:rect b="b" l="l" r="r" t="t"/>
              <a:pathLst>
                <a:path extrusionOk="0" h="877821" w="1046479">
                  <a:moveTo>
                    <a:pt x="0" y="0"/>
                  </a:moveTo>
                  <a:lnTo>
                    <a:pt x="1046479" y="0"/>
                  </a:lnTo>
                  <a:lnTo>
                    <a:pt x="1046479" y="877821"/>
                  </a:lnTo>
                  <a:lnTo>
                    <a:pt x="0" y="877821"/>
                  </a:lnTo>
                  <a:close/>
                </a:path>
              </a:pathLst>
            </a:custGeom>
            <a:solidFill>
              <a:srgbClr val="F4956F"/>
            </a:solidFill>
            <a:ln>
              <a:noFill/>
            </a:ln>
          </p:spPr>
        </p:sp>
        <p:sp>
          <p:nvSpPr>
            <p:cNvPr id="95" name="Google Shape;95;g31b8a490130_0_0"/>
            <p:cNvSpPr txBox="1"/>
            <p:nvPr/>
          </p:nvSpPr>
          <p:spPr>
            <a:xfrm>
              <a:off x="0" y="0"/>
              <a:ext cx="1046400" cy="8778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6" name="Google Shape;96;g31b8a490130_0_0"/>
          <p:cNvSpPr/>
          <p:nvPr/>
        </p:nvSpPr>
        <p:spPr>
          <a:xfrm rot="257349">
            <a:off x="12744449" y="852786"/>
            <a:ext cx="4738190" cy="5286013"/>
          </a:xfrm>
          <a:custGeom>
            <a:rect b="b" l="l" r="r" t="t"/>
            <a:pathLst>
              <a:path extrusionOk="0" h="5271209" w="4724920">
                <a:moveTo>
                  <a:pt x="0" y="0"/>
                </a:moveTo>
                <a:lnTo>
                  <a:pt x="4724919" y="0"/>
                </a:lnTo>
                <a:lnTo>
                  <a:pt x="4724919" y="5271209"/>
                </a:lnTo>
                <a:lnTo>
                  <a:pt x="0" y="5271209"/>
                </a:lnTo>
                <a:lnTo>
                  <a:pt x="0" y="0"/>
                </a:lnTo>
                <a:close/>
              </a:path>
            </a:pathLst>
          </a:custGeom>
          <a:blipFill rotWithShape="1">
            <a:blip r:embed="rId3">
              <a:alphaModFix/>
            </a:blip>
            <a:stretch>
              <a:fillRect b="0" l="0" r="0" t="0"/>
            </a:stretch>
          </a:blipFill>
          <a:ln>
            <a:noFill/>
          </a:ln>
        </p:spPr>
      </p:sp>
      <p:sp>
        <p:nvSpPr>
          <p:cNvPr id="97" name="Google Shape;97;g31b8a490130_0_0"/>
          <p:cNvSpPr/>
          <p:nvPr/>
        </p:nvSpPr>
        <p:spPr>
          <a:xfrm>
            <a:off x="592921" y="7764050"/>
            <a:ext cx="2787510" cy="1712923"/>
          </a:xfrm>
          <a:custGeom>
            <a:rect b="b" l="l" r="r" t="t"/>
            <a:pathLst>
              <a:path extrusionOk="0" h="1712923" w="2787510">
                <a:moveTo>
                  <a:pt x="0" y="0"/>
                </a:moveTo>
                <a:lnTo>
                  <a:pt x="2787510" y="0"/>
                </a:lnTo>
                <a:lnTo>
                  <a:pt x="2787510" y="1712923"/>
                </a:lnTo>
                <a:lnTo>
                  <a:pt x="0" y="1712923"/>
                </a:lnTo>
                <a:lnTo>
                  <a:pt x="0" y="0"/>
                </a:lnTo>
                <a:close/>
              </a:path>
            </a:pathLst>
          </a:custGeom>
          <a:blipFill rotWithShape="1">
            <a:blip r:embed="rId4">
              <a:alphaModFix/>
            </a:blip>
            <a:stretch>
              <a:fillRect b="0" l="0" r="0" t="0"/>
            </a:stretch>
          </a:blipFill>
          <a:ln>
            <a:noFill/>
          </a:ln>
        </p:spPr>
      </p:sp>
      <p:sp>
        <p:nvSpPr>
          <p:cNvPr id="98" name="Google Shape;98;g31b8a490130_0_0"/>
          <p:cNvSpPr/>
          <p:nvPr/>
        </p:nvSpPr>
        <p:spPr>
          <a:xfrm>
            <a:off x="4550774" y="7583659"/>
            <a:ext cx="2865673" cy="2073705"/>
          </a:xfrm>
          <a:custGeom>
            <a:rect b="b" l="l" r="r" t="t"/>
            <a:pathLst>
              <a:path extrusionOk="0" h="2073705" w="2865673">
                <a:moveTo>
                  <a:pt x="0" y="0"/>
                </a:moveTo>
                <a:lnTo>
                  <a:pt x="2865673" y="0"/>
                </a:lnTo>
                <a:lnTo>
                  <a:pt x="2865673" y="2073705"/>
                </a:lnTo>
                <a:lnTo>
                  <a:pt x="0" y="2073705"/>
                </a:lnTo>
                <a:lnTo>
                  <a:pt x="0" y="0"/>
                </a:lnTo>
                <a:close/>
              </a:path>
            </a:pathLst>
          </a:custGeom>
          <a:blipFill rotWithShape="1">
            <a:blip r:embed="rId5">
              <a:alphaModFix/>
            </a:blip>
            <a:stretch>
              <a:fillRect b="0" l="0" r="0" t="0"/>
            </a:stretch>
          </a:blipFill>
          <a:ln>
            <a:noFill/>
          </a:ln>
        </p:spPr>
      </p:sp>
      <p:sp>
        <p:nvSpPr>
          <p:cNvPr id="99" name="Google Shape;99;g31b8a490130_0_0"/>
          <p:cNvSpPr/>
          <p:nvPr/>
        </p:nvSpPr>
        <p:spPr>
          <a:xfrm>
            <a:off x="8355092" y="7796932"/>
            <a:ext cx="3156575" cy="1647158"/>
          </a:xfrm>
          <a:custGeom>
            <a:rect b="b" l="l" r="r" t="t"/>
            <a:pathLst>
              <a:path extrusionOk="0" h="1647158" w="3156575">
                <a:moveTo>
                  <a:pt x="0" y="0"/>
                </a:moveTo>
                <a:lnTo>
                  <a:pt x="3156575" y="0"/>
                </a:lnTo>
                <a:lnTo>
                  <a:pt x="3156575" y="1647158"/>
                </a:lnTo>
                <a:lnTo>
                  <a:pt x="0" y="1647158"/>
                </a:lnTo>
                <a:lnTo>
                  <a:pt x="0" y="0"/>
                </a:lnTo>
                <a:close/>
              </a:path>
            </a:pathLst>
          </a:custGeom>
          <a:blipFill rotWithShape="1">
            <a:blip r:embed="rId6">
              <a:alphaModFix/>
            </a:blip>
            <a:stretch>
              <a:fillRect b="0" l="0" r="0" t="0"/>
            </a:stretch>
          </a:blipFill>
          <a:ln>
            <a:noFill/>
          </a:ln>
        </p:spPr>
      </p:sp>
      <p:sp>
        <p:nvSpPr>
          <p:cNvPr id="100" name="Google Shape;100;g31b8a490130_0_0"/>
          <p:cNvSpPr txBox="1"/>
          <p:nvPr/>
        </p:nvSpPr>
        <p:spPr>
          <a:xfrm>
            <a:off x="1028700" y="1133475"/>
            <a:ext cx="9910200" cy="39405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lang="en-US" sz="8000">
                <a:solidFill>
                  <a:srgbClr val="294069"/>
                </a:solidFill>
              </a:rPr>
              <a:t>Balancium RX - </a:t>
            </a:r>
            <a:endParaRPr sz="8000">
              <a:solidFill>
                <a:srgbClr val="294069"/>
              </a:solidFill>
            </a:endParaRPr>
          </a:p>
          <a:p>
            <a:pPr indent="0" lvl="0" marL="0" marR="0" rtl="0" algn="ctr">
              <a:lnSpc>
                <a:spcPct val="110000"/>
              </a:lnSpc>
              <a:spcBef>
                <a:spcPts val="0"/>
              </a:spcBef>
              <a:spcAft>
                <a:spcPts val="0"/>
              </a:spcAft>
              <a:buNone/>
            </a:pPr>
            <a:r>
              <a:rPr lang="en-US" sz="8000">
                <a:solidFill>
                  <a:srgbClr val="294069"/>
                </a:solidFill>
              </a:rPr>
              <a:t>Drug-Drug Interaction Checker</a:t>
            </a:r>
            <a:endParaRPr sz="8000"/>
          </a:p>
        </p:txBody>
      </p:sp>
      <p:sp>
        <p:nvSpPr>
          <p:cNvPr id="101" name="Google Shape;101;g31b8a490130_0_0"/>
          <p:cNvSpPr txBox="1"/>
          <p:nvPr/>
        </p:nvSpPr>
        <p:spPr>
          <a:xfrm>
            <a:off x="12343600" y="7093500"/>
            <a:ext cx="4668600" cy="3054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lang="en-US" sz="3200">
                <a:solidFill>
                  <a:srgbClr val="294069"/>
                </a:solidFill>
              </a:rPr>
              <a:t>Chehak Arora</a:t>
            </a:r>
            <a:endParaRPr sz="1000"/>
          </a:p>
          <a:p>
            <a:pPr indent="0" lvl="0" marL="0" marR="0" rtl="0" algn="l">
              <a:lnSpc>
                <a:spcPct val="130000"/>
              </a:lnSpc>
              <a:spcBef>
                <a:spcPts val="0"/>
              </a:spcBef>
              <a:spcAft>
                <a:spcPts val="0"/>
              </a:spcAft>
              <a:buNone/>
            </a:pPr>
            <a:r>
              <a:rPr lang="en-US" sz="3200">
                <a:solidFill>
                  <a:srgbClr val="294069"/>
                </a:solidFill>
              </a:rPr>
              <a:t>Marius Nwobi</a:t>
            </a:r>
            <a:endParaRPr sz="3200">
              <a:solidFill>
                <a:srgbClr val="294069"/>
              </a:solidFill>
            </a:endParaRPr>
          </a:p>
          <a:p>
            <a:pPr indent="0" lvl="0" marL="0" marR="0" rtl="0" algn="l">
              <a:lnSpc>
                <a:spcPct val="130000"/>
              </a:lnSpc>
              <a:spcBef>
                <a:spcPts val="0"/>
              </a:spcBef>
              <a:spcAft>
                <a:spcPts val="0"/>
              </a:spcAft>
              <a:buNone/>
            </a:pPr>
            <a:r>
              <a:rPr lang="en-US" sz="3200">
                <a:solidFill>
                  <a:srgbClr val="294069"/>
                </a:solidFill>
              </a:rPr>
              <a:t>Franco Valdes</a:t>
            </a:r>
            <a:endParaRPr sz="3200">
              <a:solidFill>
                <a:srgbClr val="294069"/>
              </a:solidFill>
            </a:endParaRPr>
          </a:p>
          <a:p>
            <a:pPr indent="0" lvl="0" marL="0" marR="0" rtl="0" algn="l">
              <a:lnSpc>
                <a:spcPct val="130000"/>
              </a:lnSpc>
              <a:spcBef>
                <a:spcPts val="0"/>
              </a:spcBef>
              <a:spcAft>
                <a:spcPts val="0"/>
              </a:spcAft>
              <a:buNone/>
            </a:pPr>
            <a:r>
              <a:rPr lang="en-US" sz="3200">
                <a:solidFill>
                  <a:srgbClr val="294069"/>
                </a:solidFill>
              </a:rPr>
              <a:t>Andrew Normandin</a:t>
            </a:r>
            <a:endParaRPr sz="3200">
              <a:solidFill>
                <a:srgbClr val="294069"/>
              </a:solidFill>
            </a:endParaRPr>
          </a:p>
          <a:p>
            <a:pPr indent="0" lvl="0" marL="0" marR="0" rtl="0" algn="l">
              <a:lnSpc>
                <a:spcPct val="130000"/>
              </a:lnSpc>
              <a:spcBef>
                <a:spcPts val="0"/>
              </a:spcBef>
              <a:spcAft>
                <a:spcPts val="0"/>
              </a:spcAft>
              <a:buNone/>
            </a:pPr>
            <a:r>
              <a:rPr lang="en-US" sz="3200">
                <a:solidFill>
                  <a:srgbClr val="294069"/>
                </a:solidFill>
              </a:rPr>
              <a:t>David Rogers</a:t>
            </a:r>
            <a:r>
              <a:rPr b="0" i="0" lang="en-US" sz="3200" u="none" cap="none" strike="noStrike">
                <a:solidFill>
                  <a:srgbClr val="294069"/>
                </a:solidFill>
                <a:latin typeface="Arial"/>
                <a:ea typeface="Arial"/>
                <a:cs typeface="Arial"/>
                <a:sym typeface="Arial"/>
              </a:rPr>
              <a:t> </a:t>
            </a:r>
            <a:endParaRPr sz="1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1D4E1"/>
        </a:solidFill>
      </p:bgPr>
    </p:bg>
    <p:spTree>
      <p:nvGrpSpPr>
        <p:cNvPr id="105" name="Shape 105"/>
        <p:cNvGrpSpPr/>
        <p:nvPr/>
      </p:nvGrpSpPr>
      <p:grpSpPr>
        <a:xfrm>
          <a:off x="0" y="0"/>
          <a:ext cx="0" cy="0"/>
          <a:chOff x="0" y="0"/>
          <a:chExt cx="0" cy="0"/>
        </a:xfrm>
      </p:grpSpPr>
      <p:grpSp>
        <p:nvGrpSpPr>
          <p:cNvPr id="106" name="Google Shape;106;p2"/>
          <p:cNvGrpSpPr/>
          <p:nvPr/>
        </p:nvGrpSpPr>
        <p:grpSpPr>
          <a:xfrm rot="-5400000">
            <a:off x="-976237" y="-1996512"/>
            <a:ext cx="13308249" cy="14280025"/>
            <a:chOff x="0" y="0"/>
            <a:chExt cx="660400" cy="691798"/>
          </a:xfrm>
        </p:grpSpPr>
        <p:sp>
          <p:nvSpPr>
            <p:cNvPr id="107" name="Google Shape;107;p2"/>
            <p:cNvSpPr/>
            <p:nvPr/>
          </p:nvSpPr>
          <p:spPr>
            <a:xfrm>
              <a:off x="0" y="0"/>
              <a:ext cx="660400" cy="691798"/>
            </a:xfrm>
            <a:custGeom>
              <a:rect b="b" l="l" r="r" t="t"/>
              <a:pathLst>
                <a:path extrusionOk="0" h="691798" w="660400">
                  <a:moveTo>
                    <a:pt x="220252" y="672729"/>
                  </a:moveTo>
                  <a:cubicBezTo>
                    <a:pt x="254109" y="684243"/>
                    <a:pt x="292600" y="691798"/>
                    <a:pt x="330378" y="691798"/>
                  </a:cubicBezTo>
                  <a:cubicBezTo>
                    <a:pt x="368157" y="691798"/>
                    <a:pt x="404509" y="685321"/>
                    <a:pt x="438009" y="673807"/>
                  </a:cubicBezTo>
                  <a:cubicBezTo>
                    <a:pt x="438723" y="673448"/>
                    <a:pt x="439435" y="673448"/>
                    <a:pt x="440148" y="673089"/>
                  </a:cubicBezTo>
                  <a:cubicBezTo>
                    <a:pt x="565955" y="627033"/>
                    <a:pt x="658618" y="505419"/>
                    <a:pt x="660400" y="365984"/>
                  </a:cubicBezTo>
                  <a:lnTo>
                    <a:pt x="660400" y="0"/>
                  </a:lnTo>
                  <a:lnTo>
                    <a:pt x="0" y="0"/>
                  </a:lnTo>
                  <a:lnTo>
                    <a:pt x="0" y="365712"/>
                  </a:lnTo>
                  <a:cubicBezTo>
                    <a:pt x="1782" y="506138"/>
                    <a:pt x="93019" y="627753"/>
                    <a:pt x="220252" y="672729"/>
                  </a:cubicBezTo>
                  <a:close/>
                </a:path>
              </a:pathLst>
            </a:custGeom>
            <a:solidFill>
              <a:srgbClr val="E7F1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txBox="1"/>
            <p:nvPr/>
          </p:nvSpPr>
          <p:spPr>
            <a:xfrm>
              <a:off x="0" y="0"/>
              <a:ext cx="660400" cy="564798"/>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9" name="Google Shape;109;p2"/>
          <p:cNvSpPr txBox="1"/>
          <p:nvPr/>
        </p:nvSpPr>
        <p:spPr>
          <a:xfrm>
            <a:off x="418100" y="273475"/>
            <a:ext cx="12399900" cy="10218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b="1" lang="en-US" sz="2700">
                <a:solidFill>
                  <a:schemeClr val="dk1"/>
                </a:solidFill>
              </a:rPr>
              <a:t>Problem:</a:t>
            </a:r>
            <a:endParaRPr b="1" sz="27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US" sz="2400">
                <a:solidFill>
                  <a:schemeClr val="dk1"/>
                </a:solidFill>
              </a:rPr>
              <a:t>Pharmaceutical development is becoming more complex.</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Risk of harmful drug - drug interactions</a:t>
            </a:r>
            <a:endParaRPr sz="2400">
              <a:solidFill>
                <a:schemeClr val="dk1"/>
              </a:solidFill>
            </a:endParaRPr>
          </a:p>
          <a:p>
            <a:pPr indent="-381000" lvl="1" marL="914400" rtl="0" algn="l">
              <a:lnSpc>
                <a:spcPct val="115000"/>
              </a:lnSpc>
              <a:spcBef>
                <a:spcPts val="0"/>
              </a:spcBef>
              <a:spcAft>
                <a:spcPts val="0"/>
              </a:spcAft>
              <a:buClr>
                <a:schemeClr val="dk1"/>
              </a:buClr>
              <a:buSzPts val="2400"/>
              <a:buChar char="○"/>
            </a:pPr>
            <a:r>
              <a:rPr lang="en-US" sz="2400">
                <a:solidFill>
                  <a:schemeClr val="dk1"/>
                </a:solidFill>
              </a:rPr>
              <a:t>Can reduce drug efficacy.</a:t>
            </a:r>
            <a:endParaRPr sz="2400">
              <a:solidFill>
                <a:schemeClr val="dk1"/>
              </a:solidFill>
            </a:endParaRPr>
          </a:p>
          <a:p>
            <a:pPr indent="-381000" lvl="1" marL="914400" rtl="0" algn="l">
              <a:lnSpc>
                <a:spcPct val="115000"/>
              </a:lnSpc>
              <a:spcBef>
                <a:spcPts val="0"/>
              </a:spcBef>
              <a:spcAft>
                <a:spcPts val="0"/>
              </a:spcAft>
              <a:buClr>
                <a:schemeClr val="dk1"/>
              </a:buClr>
              <a:buSzPts val="2400"/>
              <a:buChar char="○"/>
            </a:pPr>
            <a:r>
              <a:rPr lang="en-US" sz="2400">
                <a:solidFill>
                  <a:schemeClr val="dk1"/>
                </a:solidFill>
              </a:rPr>
              <a:t>Can increase toxicity.</a:t>
            </a:r>
            <a:endParaRPr sz="2400">
              <a:solidFill>
                <a:schemeClr val="dk1"/>
              </a:solidFill>
            </a:endParaRPr>
          </a:p>
          <a:p>
            <a:pPr indent="-381000" lvl="1" marL="914400" rtl="0" algn="l">
              <a:lnSpc>
                <a:spcPct val="115000"/>
              </a:lnSpc>
              <a:spcBef>
                <a:spcPts val="0"/>
              </a:spcBef>
              <a:spcAft>
                <a:spcPts val="0"/>
              </a:spcAft>
              <a:buClr>
                <a:schemeClr val="dk1"/>
              </a:buClr>
              <a:buSzPts val="2400"/>
              <a:buChar char="○"/>
            </a:pPr>
            <a:r>
              <a:rPr lang="en-US" sz="2400">
                <a:solidFill>
                  <a:schemeClr val="dk1"/>
                </a:solidFill>
              </a:rPr>
              <a:t>Can create </a:t>
            </a:r>
            <a:r>
              <a:rPr lang="en-US" sz="2400">
                <a:solidFill>
                  <a:schemeClr val="dk1"/>
                </a:solidFill>
              </a:rPr>
              <a:t>unforeseen</a:t>
            </a:r>
            <a:r>
              <a:rPr lang="en-US" sz="2400">
                <a:solidFill>
                  <a:schemeClr val="dk1"/>
                </a:solidFill>
              </a:rPr>
              <a:t> side effects.</a:t>
            </a:r>
            <a:endParaRPr sz="2400">
              <a:solidFill>
                <a:schemeClr val="dk1"/>
              </a:solidFill>
            </a:endParaRPr>
          </a:p>
          <a:p>
            <a:pPr indent="0" lvl="0" marL="0" rtl="0" algn="l">
              <a:lnSpc>
                <a:spcPct val="115000"/>
              </a:lnSpc>
              <a:spcBef>
                <a:spcPts val="1200"/>
              </a:spcBef>
              <a:spcAft>
                <a:spcPts val="0"/>
              </a:spcAft>
              <a:buNone/>
            </a:pPr>
            <a:r>
              <a:rPr b="1" lang="en-US" sz="2500">
                <a:solidFill>
                  <a:schemeClr val="dk1"/>
                </a:solidFill>
              </a:rPr>
              <a:t>Data Set Sources:</a:t>
            </a:r>
            <a:endParaRPr b="1" sz="2500">
              <a:solidFill>
                <a:schemeClr val="dk1"/>
              </a:solidFill>
            </a:endParaRPr>
          </a:p>
          <a:p>
            <a:pPr indent="-381000" lvl="0" marL="457200" rtl="0" algn="l">
              <a:lnSpc>
                <a:spcPct val="115000"/>
              </a:lnSpc>
              <a:spcBef>
                <a:spcPts val="1200"/>
              </a:spcBef>
              <a:spcAft>
                <a:spcPts val="0"/>
              </a:spcAft>
              <a:buClr>
                <a:schemeClr val="dk1"/>
              </a:buClr>
              <a:buSzPts val="2400"/>
              <a:buChar char="●"/>
            </a:pPr>
            <a:r>
              <a:rPr b="1" lang="en-US" sz="2400">
                <a:solidFill>
                  <a:schemeClr val="dk1"/>
                </a:solidFill>
              </a:rPr>
              <a:t>Original DDI Dataset:</a:t>
            </a:r>
            <a:endParaRPr b="1" sz="2400">
              <a:solidFill>
                <a:schemeClr val="dk1"/>
              </a:solidFill>
            </a:endParaRPr>
          </a:p>
          <a:p>
            <a:pPr indent="-381000" lvl="1" marL="914400" rtl="0" algn="l">
              <a:lnSpc>
                <a:spcPct val="115000"/>
              </a:lnSpc>
              <a:spcBef>
                <a:spcPts val="0"/>
              </a:spcBef>
              <a:spcAft>
                <a:spcPts val="0"/>
              </a:spcAft>
              <a:buClr>
                <a:schemeClr val="dk1"/>
              </a:buClr>
              <a:buSzPts val="2400"/>
              <a:buChar char="○"/>
            </a:pPr>
            <a:r>
              <a:rPr lang="en-US" sz="2400">
                <a:solidFill>
                  <a:schemeClr val="dk1"/>
                </a:solidFill>
              </a:rPr>
              <a:t>Interactions involving alimentary tract and metabolism drugs.</a:t>
            </a:r>
            <a:endParaRPr sz="2400">
              <a:solidFill>
                <a:schemeClr val="dk1"/>
              </a:solidFill>
            </a:endParaRPr>
          </a:p>
          <a:p>
            <a:pPr indent="-381000" lvl="1" marL="914400" rtl="0" algn="l">
              <a:lnSpc>
                <a:spcPct val="115000"/>
              </a:lnSpc>
              <a:spcBef>
                <a:spcPts val="0"/>
              </a:spcBef>
              <a:spcAft>
                <a:spcPts val="0"/>
              </a:spcAft>
              <a:buClr>
                <a:schemeClr val="dk1"/>
              </a:buClr>
              <a:buSzPts val="2400"/>
              <a:buChar char="○"/>
            </a:pPr>
            <a:r>
              <a:rPr lang="en-US" sz="2400">
                <a:solidFill>
                  <a:schemeClr val="dk1"/>
                </a:solidFill>
              </a:rPr>
              <a:t>Drug names mapped to multiple PubChem CIDs (some drugs have more than one CID).</a:t>
            </a:r>
            <a:endParaRPr sz="2400">
              <a:solidFill>
                <a:schemeClr val="dk1"/>
              </a:solidFill>
            </a:endParaRPr>
          </a:p>
          <a:p>
            <a:pPr indent="-381000" lvl="1" marL="914400" rtl="0" algn="l">
              <a:lnSpc>
                <a:spcPct val="115000"/>
              </a:lnSpc>
              <a:spcBef>
                <a:spcPts val="0"/>
              </a:spcBef>
              <a:spcAft>
                <a:spcPts val="0"/>
              </a:spcAft>
              <a:buClr>
                <a:schemeClr val="dk1"/>
              </a:buClr>
              <a:buSzPts val="2400"/>
              <a:buChar char="○"/>
            </a:pPr>
            <a:r>
              <a:rPr lang="en-US" sz="2400">
                <a:solidFill>
                  <a:schemeClr val="dk1"/>
                </a:solidFill>
              </a:rPr>
              <a:t>Molecular descriptors and chemical properties retrieved from PubChem.</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rPr>
              <a:t>One-CID-Per-Drug Dataset:</a:t>
            </a:r>
            <a:endParaRPr b="1" sz="2400">
              <a:solidFill>
                <a:schemeClr val="dk1"/>
              </a:solidFill>
            </a:endParaRPr>
          </a:p>
          <a:p>
            <a:pPr indent="-381000" lvl="1" marL="914400" rtl="0" algn="l">
              <a:lnSpc>
                <a:spcPct val="115000"/>
              </a:lnSpc>
              <a:spcBef>
                <a:spcPts val="0"/>
              </a:spcBef>
              <a:spcAft>
                <a:spcPts val="0"/>
              </a:spcAft>
              <a:buClr>
                <a:schemeClr val="dk1"/>
              </a:buClr>
              <a:buSzPts val="2400"/>
              <a:buChar char="○"/>
            </a:pPr>
            <a:r>
              <a:rPr lang="en-US" sz="2400">
                <a:solidFill>
                  <a:schemeClr val="dk1"/>
                </a:solidFill>
              </a:rPr>
              <a:t>Derived by filtering the original dataset to retain a single representative CID per drug.</a:t>
            </a:r>
            <a:endParaRPr sz="2400">
              <a:solidFill>
                <a:schemeClr val="dk1"/>
              </a:solidFill>
            </a:endParaRPr>
          </a:p>
          <a:p>
            <a:pPr indent="-381000" lvl="1" marL="914400" rtl="0" algn="l">
              <a:lnSpc>
                <a:spcPct val="115000"/>
              </a:lnSpc>
              <a:spcBef>
                <a:spcPts val="0"/>
              </a:spcBef>
              <a:spcAft>
                <a:spcPts val="0"/>
              </a:spcAft>
              <a:buClr>
                <a:schemeClr val="dk1"/>
              </a:buClr>
              <a:buSzPts val="2400"/>
              <a:buChar char="○"/>
            </a:pPr>
            <a:r>
              <a:rPr lang="en-US" sz="2400">
                <a:solidFill>
                  <a:schemeClr val="dk1"/>
                </a:solidFill>
              </a:rPr>
              <a:t>Ensures one unique ID per drug for cleaner analysis and comparison.</a:t>
            </a:r>
            <a:endParaRPr sz="2400">
              <a:solidFill>
                <a:schemeClr val="dk1"/>
              </a:solidFill>
            </a:endParaRPr>
          </a:p>
          <a:p>
            <a:pPr indent="0" lvl="0" marL="0" rtl="0" algn="l">
              <a:lnSpc>
                <a:spcPct val="115000"/>
              </a:lnSpc>
              <a:spcBef>
                <a:spcPts val="1200"/>
              </a:spcBef>
              <a:spcAft>
                <a:spcPts val="0"/>
              </a:spcAft>
              <a:buNone/>
            </a:pPr>
            <a:r>
              <a:rPr b="1" lang="en-US" sz="2500">
                <a:solidFill>
                  <a:schemeClr val="dk1"/>
                </a:solidFill>
              </a:rPr>
              <a:t>Final Data Sets:</a:t>
            </a:r>
            <a:endParaRPr b="1" sz="25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US" sz="2400">
                <a:solidFill>
                  <a:schemeClr val="dk1"/>
                </a:solidFill>
              </a:rPr>
              <a:t>Both datasets include chemical properties as predictors.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Interaction labels used as targets for machine learning models.</a:t>
            </a:r>
            <a:endParaRPr sz="2400">
              <a:solidFill>
                <a:schemeClr val="dk1"/>
              </a:solidFill>
            </a:endParaRPr>
          </a:p>
          <a:p>
            <a:pPr indent="0" lvl="0" marL="457200" rtl="0" algn="l">
              <a:lnSpc>
                <a:spcPct val="115000"/>
              </a:lnSpc>
              <a:spcBef>
                <a:spcPts val="1200"/>
              </a:spcBef>
              <a:spcAft>
                <a:spcPts val="0"/>
              </a:spcAft>
              <a:buNone/>
            </a:pPr>
            <a:r>
              <a:t/>
            </a:r>
            <a:endParaRPr sz="2400">
              <a:solidFill>
                <a:schemeClr val="dk1"/>
              </a:solidFill>
            </a:endParaRPr>
          </a:p>
          <a:p>
            <a:pPr indent="0" lvl="0" marL="457200" rtl="0" algn="l">
              <a:lnSpc>
                <a:spcPct val="115000"/>
              </a:lnSpc>
              <a:spcBef>
                <a:spcPts val="1200"/>
              </a:spcBef>
              <a:spcAft>
                <a:spcPts val="0"/>
              </a:spcAft>
              <a:buNone/>
            </a:pPr>
            <a:r>
              <a:t/>
            </a:r>
            <a:endParaRPr sz="2500">
              <a:solidFill>
                <a:schemeClr val="dk1"/>
              </a:solidFill>
            </a:endParaRPr>
          </a:p>
          <a:p>
            <a:pPr indent="0" lvl="0" marL="0" rtl="0" algn="just">
              <a:lnSpc>
                <a:spcPct val="115000"/>
              </a:lnSpc>
              <a:spcBef>
                <a:spcPts val="1200"/>
              </a:spcBef>
              <a:spcAft>
                <a:spcPts val="1200"/>
              </a:spcAft>
              <a:buNone/>
            </a:pPr>
            <a:r>
              <a:t/>
            </a:r>
            <a:endParaRPr b="1" sz="2500">
              <a:solidFill>
                <a:schemeClr val="dk1"/>
              </a:solidFill>
            </a:endParaRPr>
          </a:p>
        </p:txBody>
      </p:sp>
      <p:pic>
        <p:nvPicPr>
          <p:cNvPr id="110" name="Google Shape;110;p2"/>
          <p:cNvPicPr preferRelativeResize="0"/>
          <p:nvPr/>
        </p:nvPicPr>
        <p:blipFill>
          <a:blip r:embed="rId3">
            <a:alphaModFix/>
          </a:blip>
          <a:stretch>
            <a:fillRect/>
          </a:stretch>
        </p:blipFill>
        <p:spPr>
          <a:xfrm>
            <a:off x="13550550" y="5125575"/>
            <a:ext cx="4389300" cy="4389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CDCFE"/>
        </a:solidFill>
      </p:bgPr>
    </p:bg>
    <p:spTree>
      <p:nvGrpSpPr>
        <p:cNvPr id="114" name="Shape 114"/>
        <p:cNvGrpSpPr/>
        <p:nvPr/>
      </p:nvGrpSpPr>
      <p:grpSpPr>
        <a:xfrm>
          <a:off x="0" y="0"/>
          <a:ext cx="0" cy="0"/>
          <a:chOff x="0" y="0"/>
          <a:chExt cx="0" cy="0"/>
        </a:xfrm>
      </p:grpSpPr>
      <p:sp>
        <p:nvSpPr>
          <p:cNvPr id="115" name="Google Shape;115;g31c365ece61_0_67"/>
          <p:cNvSpPr/>
          <p:nvPr/>
        </p:nvSpPr>
        <p:spPr>
          <a:xfrm>
            <a:off x="916550" y="1240050"/>
            <a:ext cx="16713600" cy="7332600"/>
          </a:xfrm>
          <a:prstGeom prst="roundRect">
            <a:avLst>
              <a:gd fmla="val 7843"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Calibri"/>
              <a:ea typeface="Calibri"/>
              <a:cs typeface="Calibri"/>
              <a:sym typeface="Calibri"/>
            </a:endParaRPr>
          </a:p>
        </p:txBody>
      </p:sp>
      <p:cxnSp>
        <p:nvCxnSpPr>
          <p:cNvPr id="116" name="Google Shape;116;g31c365ece61_0_67"/>
          <p:cNvCxnSpPr>
            <a:stCxn id="117" idx="3"/>
            <a:endCxn id="118" idx="1"/>
          </p:cNvCxnSpPr>
          <p:nvPr/>
        </p:nvCxnSpPr>
        <p:spPr>
          <a:xfrm>
            <a:off x="9915366" y="2969525"/>
            <a:ext cx="2919000" cy="0"/>
          </a:xfrm>
          <a:prstGeom prst="straightConnector1">
            <a:avLst/>
          </a:prstGeom>
          <a:noFill/>
          <a:ln cap="flat" cmpd="sng" w="38100">
            <a:solidFill>
              <a:schemeClr val="dk2"/>
            </a:solidFill>
            <a:prstDash val="solid"/>
            <a:round/>
            <a:headEnd len="med" w="med" type="none"/>
            <a:tailEnd len="med" w="med" type="triangle"/>
          </a:ln>
        </p:spPr>
      </p:cxnSp>
      <p:cxnSp>
        <p:nvCxnSpPr>
          <p:cNvPr id="119" name="Google Shape;119;g31c365ece61_0_67"/>
          <p:cNvCxnSpPr>
            <a:stCxn id="120" idx="3"/>
            <a:endCxn id="117" idx="1"/>
          </p:cNvCxnSpPr>
          <p:nvPr/>
        </p:nvCxnSpPr>
        <p:spPr>
          <a:xfrm>
            <a:off x="3903636" y="2969524"/>
            <a:ext cx="3040800" cy="0"/>
          </a:xfrm>
          <a:prstGeom prst="straightConnector1">
            <a:avLst/>
          </a:prstGeom>
          <a:noFill/>
          <a:ln cap="flat" cmpd="sng" w="38100">
            <a:solidFill>
              <a:schemeClr val="dk2"/>
            </a:solidFill>
            <a:prstDash val="solid"/>
            <a:round/>
            <a:headEnd len="med" w="med" type="none"/>
            <a:tailEnd len="med" w="med" type="triangle"/>
          </a:ln>
        </p:spPr>
      </p:cxnSp>
      <p:pic>
        <p:nvPicPr>
          <p:cNvPr descr="Public Domain Clip Art Image | Database symbol | ID ..." id="120" name="Google Shape;120;g31c365ece61_0_67"/>
          <p:cNvPicPr preferRelativeResize="0"/>
          <p:nvPr/>
        </p:nvPicPr>
        <p:blipFill>
          <a:blip r:embed="rId3">
            <a:alphaModFix/>
          </a:blip>
          <a:stretch>
            <a:fillRect/>
          </a:stretch>
        </p:blipFill>
        <p:spPr>
          <a:xfrm>
            <a:off x="2307287" y="1861425"/>
            <a:ext cx="1596349" cy="2216199"/>
          </a:xfrm>
          <a:prstGeom prst="rect">
            <a:avLst/>
          </a:prstGeom>
          <a:noFill/>
          <a:ln>
            <a:noFill/>
          </a:ln>
        </p:spPr>
      </p:pic>
      <p:pic>
        <p:nvPicPr>
          <p:cNvPr descr="File:PubChem logo.svg - Wikipedia" id="117" name="Google Shape;117;g31c365ece61_0_67"/>
          <p:cNvPicPr preferRelativeResize="0"/>
          <p:nvPr/>
        </p:nvPicPr>
        <p:blipFill>
          <a:blip r:embed="rId4">
            <a:alphaModFix/>
          </a:blip>
          <a:stretch>
            <a:fillRect/>
          </a:stretch>
        </p:blipFill>
        <p:spPr>
          <a:xfrm>
            <a:off x="6944318" y="2535763"/>
            <a:ext cx="2971049" cy="867525"/>
          </a:xfrm>
          <a:prstGeom prst="rect">
            <a:avLst/>
          </a:prstGeom>
          <a:noFill/>
          <a:ln>
            <a:noFill/>
          </a:ln>
        </p:spPr>
      </p:pic>
      <p:grpSp>
        <p:nvGrpSpPr>
          <p:cNvPr id="121" name="Google Shape;121;g31c365ece61_0_67"/>
          <p:cNvGrpSpPr/>
          <p:nvPr/>
        </p:nvGrpSpPr>
        <p:grpSpPr>
          <a:xfrm>
            <a:off x="12940832" y="6369263"/>
            <a:ext cx="3039880" cy="947074"/>
            <a:chOff x="11278745" y="5135363"/>
            <a:chExt cx="3039880" cy="947075"/>
          </a:xfrm>
        </p:grpSpPr>
        <p:pic>
          <p:nvPicPr>
            <p:cNvPr descr="TNT molecule 3d image | Public domain vectors" id="122" name="Google Shape;122;g31c365ece61_0_67"/>
            <p:cNvPicPr preferRelativeResize="0"/>
            <p:nvPr/>
          </p:nvPicPr>
          <p:blipFill>
            <a:blip r:embed="rId5">
              <a:alphaModFix/>
            </a:blip>
            <a:stretch>
              <a:fillRect/>
            </a:stretch>
          </p:blipFill>
          <p:spPr>
            <a:xfrm>
              <a:off x="12225840" y="5175150"/>
              <a:ext cx="864024" cy="867500"/>
            </a:xfrm>
            <a:prstGeom prst="rect">
              <a:avLst/>
            </a:prstGeom>
            <a:noFill/>
            <a:ln>
              <a:noFill/>
            </a:ln>
          </p:spPr>
        </p:pic>
        <p:pic>
          <p:nvPicPr>
            <p:cNvPr descr="Chemical molecule vector clip art | Public domain vectors" id="123" name="Google Shape;123;g31c365ece61_0_67"/>
            <p:cNvPicPr preferRelativeResize="0"/>
            <p:nvPr/>
          </p:nvPicPr>
          <p:blipFill>
            <a:blip r:embed="rId6">
              <a:alphaModFix/>
            </a:blip>
            <a:stretch>
              <a:fillRect/>
            </a:stretch>
          </p:blipFill>
          <p:spPr>
            <a:xfrm>
              <a:off x="13089875" y="5175147"/>
              <a:ext cx="1228750" cy="867500"/>
            </a:xfrm>
            <a:prstGeom prst="rect">
              <a:avLst/>
            </a:prstGeom>
            <a:noFill/>
            <a:ln>
              <a:noFill/>
            </a:ln>
          </p:spPr>
        </p:pic>
        <p:pic>
          <p:nvPicPr>
            <p:cNvPr descr="LSD | Free SVG" id="124" name="Google Shape;124;g31c365ece61_0_67"/>
            <p:cNvPicPr preferRelativeResize="0"/>
            <p:nvPr/>
          </p:nvPicPr>
          <p:blipFill>
            <a:blip r:embed="rId7">
              <a:alphaModFix/>
            </a:blip>
            <a:stretch>
              <a:fillRect/>
            </a:stretch>
          </p:blipFill>
          <p:spPr>
            <a:xfrm>
              <a:off x="11278745" y="5135363"/>
              <a:ext cx="947074" cy="947075"/>
            </a:xfrm>
            <a:prstGeom prst="rect">
              <a:avLst/>
            </a:prstGeom>
            <a:noFill/>
            <a:ln>
              <a:noFill/>
            </a:ln>
          </p:spPr>
        </p:pic>
      </p:grpSp>
      <p:grpSp>
        <p:nvGrpSpPr>
          <p:cNvPr id="125" name="Google Shape;125;g31c365ece61_0_67"/>
          <p:cNvGrpSpPr/>
          <p:nvPr/>
        </p:nvGrpSpPr>
        <p:grpSpPr>
          <a:xfrm>
            <a:off x="4572003" y="2249030"/>
            <a:ext cx="1440974" cy="1440974"/>
            <a:chOff x="2611350" y="2649400"/>
            <a:chExt cx="2216200" cy="2216201"/>
          </a:xfrm>
        </p:grpSpPr>
        <p:pic>
          <p:nvPicPr>
            <p:cNvPr descr="Lookup icon | Free SVG" id="126" name="Google Shape;126;g31c365ece61_0_67"/>
            <p:cNvPicPr preferRelativeResize="0"/>
            <p:nvPr/>
          </p:nvPicPr>
          <p:blipFill>
            <a:blip r:embed="rId8">
              <a:alphaModFix/>
            </a:blip>
            <a:stretch>
              <a:fillRect/>
            </a:stretch>
          </p:blipFill>
          <p:spPr>
            <a:xfrm>
              <a:off x="2611350" y="2649400"/>
              <a:ext cx="2216200" cy="2216201"/>
            </a:xfrm>
            <a:prstGeom prst="rect">
              <a:avLst/>
            </a:prstGeom>
            <a:noFill/>
            <a:ln>
              <a:noFill/>
            </a:ln>
          </p:spPr>
        </p:pic>
        <p:sp>
          <p:nvSpPr>
            <p:cNvPr id="127" name="Google Shape;127;g31c365ece61_0_67"/>
            <p:cNvSpPr txBox="1"/>
            <p:nvPr/>
          </p:nvSpPr>
          <p:spPr>
            <a:xfrm>
              <a:off x="2925525" y="3144275"/>
              <a:ext cx="1199100" cy="81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chemeClr val="dk1"/>
                  </a:solidFill>
                  <a:latin typeface="Calibri"/>
                  <a:ea typeface="Calibri"/>
                  <a:cs typeface="Calibri"/>
                  <a:sym typeface="Calibri"/>
                </a:rPr>
                <a:t>Drug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Name</a:t>
              </a:r>
              <a:endParaRPr sz="1800">
                <a:solidFill>
                  <a:schemeClr val="dk1"/>
                </a:solidFill>
                <a:latin typeface="Calibri"/>
                <a:ea typeface="Calibri"/>
                <a:cs typeface="Calibri"/>
                <a:sym typeface="Calibri"/>
              </a:endParaRPr>
            </a:p>
          </p:txBody>
        </p:sp>
      </p:grpSp>
      <p:grpSp>
        <p:nvGrpSpPr>
          <p:cNvPr id="128" name="Google Shape;128;g31c365ece61_0_67"/>
          <p:cNvGrpSpPr/>
          <p:nvPr/>
        </p:nvGrpSpPr>
        <p:grpSpPr>
          <a:xfrm>
            <a:off x="10654419" y="2249042"/>
            <a:ext cx="1440974" cy="1440974"/>
            <a:chOff x="9910750" y="2649400"/>
            <a:chExt cx="2216201" cy="2216201"/>
          </a:xfrm>
        </p:grpSpPr>
        <p:pic>
          <p:nvPicPr>
            <p:cNvPr descr="Lookup icon | Free SVG" id="129" name="Google Shape;129;g31c365ece61_0_67"/>
            <p:cNvPicPr preferRelativeResize="0"/>
            <p:nvPr/>
          </p:nvPicPr>
          <p:blipFill>
            <a:blip r:embed="rId8">
              <a:alphaModFix/>
            </a:blip>
            <a:stretch>
              <a:fillRect/>
            </a:stretch>
          </p:blipFill>
          <p:spPr>
            <a:xfrm>
              <a:off x="9910750" y="2649400"/>
              <a:ext cx="2216201" cy="2216201"/>
            </a:xfrm>
            <a:prstGeom prst="rect">
              <a:avLst/>
            </a:prstGeom>
            <a:noFill/>
            <a:ln>
              <a:noFill/>
            </a:ln>
          </p:spPr>
        </p:pic>
        <p:sp>
          <p:nvSpPr>
            <p:cNvPr id="130" name="Google Shape;130;g31c365ece61_0_67"/>
            <p:cNvSpPr txBox="1"/>
            <p:nvPr/>
          </p:nvSpPr>
          <p:spPr>
            <a:xfrm>
              <a:off x="10142475" y="3025575"/>
              <a:ext cx="1362900" cy="101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800">
                  <a:solidFill>
                    <a:schemeClr val="dk1"/>
                  </a:solidFill>
                  <a:latin typeface="Calibri"/>
                  <a:ea typeface="Calibri"/>
                  <a:cs typeface="Calibri"/>
                  <a:sym typeface="Calibri"/>
                </a:rPr>
                <a:t>CID</a:t>
              </a:r>
              <a:endParaRPr sz="2800">
                <a:solidFill>
                  <a:schemeClr val="dk1"/>
                </a:solidFill>
                <a:latin typeface="Calibri"/>
                <a:ea typeface="Calibri"/>
                <a:cs typeface="Calibri"/>
                <a:sym typeface="Calibri"/>
              </a:endParaRPr>
            </a:p>
          </p:txBody>
        </p:sp>
      </p:grpSp>
      <p:pic>
        <p:nvPicPr>
          <p:cNvPr descr="File:PubChem logo.svg - Wikipedia" id="118" name="Google Shape;118;g31c365ece61_0_67"/>
          <p:cNvPicPr preferRelativeResize="0"/>
          <p:nvPr/>
        </p:nvPicPr>
        <p:blipFill>
          <a:blip r:embed="rId4">
            <a:alphaModFix/>
          </a:blip>
          <a:stretch>
            <a:fillRect/>
          </a:stretch>
        </p:blipFill>
        <p:spPr>
          <a:xfrm>
            <a:off x="12834418" y="2535763"/>
            <a:ext cx="2971049" cy="867525"/>
          </a:xfrm>
          <a:prstGeom prst="rect">
            <a:avLst/>
          </a:prstGeom>
          <a:noFill/>
          <a:ln>
            <a:noFill/>
          </a:ln>
        </p:spPr>
      </p:pic>
      <p:cxnSp>
        <p:nvCxnSpPr>
          <p:cNvPr id="131" name="Google Shape;131;g31c365ece61_0_67"/>
          <p:cNvCxnSpPr>
            <a:stCxn id="118" idx="2"/>
            <a:endCxn id="122" idx="0"/>
          </p:cNvCxnSpPr>
          <p:nvPr/>
        </p:nvCxnSpPr>
        <p:spPr>
          <a:xfrm>
            <a:off x="14319942" y="3403287"/>
            <a:ext cx="0" cy="3005700"/>
          </a:xfrm>
          <a:prstGeom prst="straightConnector1">
            <a:avLst/>
          </a:prstGeom>
          <a:noFill/>
          <a:ln cap="flat" cmpd="sng" w="38100">
            <a:solidFill>
              <a:schemeClr val="dk2"/>
            </a:solidFill>
            <a:prstDash val="solid"/>
            <a:round/>
            <a:headEnd len="med" w="med" type="none"/>
            <a:tailEnd len="med" w="med" type="triangle"/>
          </a:ln>
        </p:spPr>
      </p:cxnSp>
      <p:sp>
        <p:nvSpPr>
          <p:cNvPr id="132" name="Google Shape;132;g31c365ece61_0_67"/>
          <p:cNvSpPr txBox="1"/>
          <p:nvPr/>
        </p:nvSpPr>
        <p:spPr>
          <a:xfrm>
            <a:off x="14594700" y="4077625"/>
            <a:ext cx="1738200" cy="134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Query </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Results</a:t>
            </a:r>
            <a:endParaRPr sz="3200">
              <a:solidFill>
                <a:schemeClr val="dk1"/>
              </a:solidFill>
              <a:latin typeface="Calibri"/>
              <a:ea typeface="Calibri"/>
              <a:cs typeface="Calibri"/>
              <a:sym typeface="Calibri"/>
            </a:endParaRPr>
          </a:p>
        </p:txBody>
      </p:sp>
      <p:pic>
        <p:nvPicPr>
          <p:cNvPr descr="Vector for free use: Laptop icon" id="133" name="Google Shape;133;g31c365ece61_0_67"/>
          <p:cNvPicPr preferRelativeResize="0"/>
          <p:nvPr/>
        </p:nvPicPr>
        <p:blipFill>
          <a:blip r:embed="rId9">
            <a:alphaModFix/>
          </a:blip>
          <a:stretch>
            <a:fillRect/>
          </a:stretch>
        </p:blipFill>
        <p:spPr>
          <a:xfrm>
            <a:off x="8177175" y="5973709"/>
            <a:ext cx="1738200" cy="1738185"/>
          </a:xfrm>
          <a:prstGeom prst="rect">
            <a:avLst/>
          </a:prstGeom>
          <a:noFill/>
          <a:ln>
            <a:noFill/>
          </a:ln>
        </p:spPr>
      </p:pic>
      <p:cxnSp>
        <p:nvCxnSpPr>
          <p:cNvPr id="134" name="Google Shape;134;g31c365ece61_0_67"/>
          <p:cNvCxnSpPr>
            <a:stCxn id="124" idx="1"/>
            <a:endCxn id="133" idx="3"/>
          </p:cNvCxnSpPr>
          <p:nvPr/>
        </p:nvCxnSpPr>
        <p:spPr>
          <a:xfrm rot="10800000">
            <a:off x="9915332" y="6842800"/>
            <a:ext cx="3025500" cy="0"/>
          </a:xfrm>
          <a:prstGeom prst="straightConnector1">
            <a:avLst/>
          </a:prstGeom>
          <a:noFill/>
          <a:ln cap="flat" cmpd="sng" w="38100">
            <a:solidFill>
              <a:schemeClr val="dk2"/>
            </a:solidFill>
            <a:prstDash val="solid"/>
            <a:round/>
            <a:headEnd len="med" w="med" type="none"/>
            <a:tailEnd len="med" w="med" type="triangle"/>
          </a:ln>
        </p:spPr>
      </p:cxnSp>
      <p:pic>
        <p:nvPicPr>
          <p:cNvPr descr="Rule based diagram | TikZ example" id="135" name="Google Shape;135;g31c365ece61_0_67"/>
          <p:cNvPicPr preferRelativeResize="0"/>
          <p:nvPr/>
        </p:nvPicPr>
        <p:blipFill>
          <a:blip r:embed="rId10">
            <a:alphaModFix/>
          </a:blip>
          <a:stretch>
            <a:fillRect/>
          </a:stretch>
        </p:blipFill>
        <p:spPr>
          <a:xfrm>
            <a:off x="1699224" y="5734699"/>
            <a:ext cx="2812463" cy="2216200"/>
          </a:xfrm>
          <a:prstGeom prst="rect">
            <a:avLst/>
          </a:prstGeom>
          <a:noFill/>
          <a:ln>
            <a:noFill/>
          </a:ln>
        </p:spPr>
      </p:pic>
      <p:cxnSp>
        <p:nvCxnSpPr>
          <p:cNvPr id="136" name="Google Shape;136;g31c365ece61_0_67"/>
          <p:cNvCxnSpPr>
            <a:stCxn id="133" idx="1"/>
            <a:endCxn id="135" idx="3"/>
          </p:cNvCxnSpPr>
          <p:nvPr/>
        </p:nvCxnSpPr>
        <p:spPr>
          <a:xfrm rot="10800000">
            <a:off x="4511775" y="6842801"/>
            <a:ext cx="3665400" cy="0"/>
          </a:xfrm>
          <a:prstGeom prst="straightConnector1">
            <a:avLst/>
          </a:prstGeom>
          <a:noFill/>
          <a:ln cap="flat" cmpd="sng" w="38100">
            <a:solidFill>
              <a:schemeClr val="dk2"/>
            </a:solidFill>
            <a:prstDash val="solid"/>
            <a:round/>
            <a:headEnd len="med" w="med" type="none"/>
            <a:tailEnd len="med" w="med" type="triangle"/>
          </a:ln>
        </p:spPr>
      </p:cxnSp>
      <p:sp>
        <p:nvSpPr>
          <p:cNvPr id="137" name="Google Shape;137;g31c365ece61_0_67"/>
          <p:cNvSpPr txBox="1"/>
          <p:nvPr/>
        </p:nvSpPr>
        <p:spPr>
          <a:xfrm>
            <a:off x="10415925" y="6171100"/>
            <a:ext cx="2291400" cy="13434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US" sz="3200">
                <a:solidFill>
                  <a:schemeClr val="dk1"/>
                </a:solidFill>
                <a:latin typeface="Calibri"/>
                <a:ea typeface="Calibri"/>
                <a:cs typeface="Calibri"/>
                <a:sym typeface="Calibri"/>
              </a:rPr>
              <a:t>Data Processing</a:t>
            </a:r>
            <a:endParaRPr sz="3200">
              <a:solidFill>
                <a:schemeClr val="dk1"/>
              </a:solidFill>
              <a:latin typeface="Calibri"/>
              <a:ea typeface="Calibri"/>
              <a:cs typeface="Calibri"/>
              <a:sym typeface="Calibri"/>
            </a:endParaRPr>
          </a:p>
        </p:txBody>
      </p:sp>
      <p:sp>
        <p:nvSpPr>
          <p:cNvPr id="138" name="Google Shape;138;g31c365ece61_0_67"/>
          <p:cNvSpPr txBox="1"/>
          <p:nvPr/>
        </p:nvSpPr>
        <p:spPr>
          <a:xfrm>
            <a:off x="5497925" y="6171100"/>
            <a:ext cx="2291400" cy="13434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US" sz="3200">
                <a:solidFill>
                  <a:schemeClr val="dk1"/>
                </a:solidFill>
                <a:latin typeface="Calibri"/>
                <a:ea typeface="Calibri"/>
                <a:cs typeface="Calibri"/>
                <a:sym typeface="Calibri"/>
              </a:rPr>
              <a:t>Machine</a:t>
            </a:r>
            <a:br>
              <a:rPr lang="en-US" sz="3200">
                <a:solidFill>
                  <a:schemeClr val="dk1"/>
                </a:solidFill>
                <a:latin typeface="Calibri"/>
                <a:ea typeface="Calibri"/>
                <a:cs typeface="Calibri"/>
                <a:sym typeface="Calibri"/>
              </a:rPr>
            </a:br>
            <a:r>
              <a:rPr lang="en-US" sz="3200">
                <a:solidFill>
                  <a:schemeClr val="dk1"/>
                </a:solidFill>
                <a:latin typeface="Calibri"/>
                <a:ea typeface="Calibri"/>
                <a:cs typeface="Calibri"/>
                <a:sym typeface="Calibri"/>
              </a:rPr>
              <a:t>Learning</a:t>
            </a:r>
            <a:endParaRPr sz="3200">
              <a:solidFill>
                <a:schemeClr val="dk1"/>
              </a:solidFill>
              <a:latin typeface="Calibri"/>
              <a:ea typeface="Calibri"/>
              <a:cs typeface="Calibri"/>
              <a:sym typeface="Calibri"/>
            </a:endParaRPr>
          </a:p>
        </p:txBody>
      </p:sp>
      <p:grpSp>
        <p:nvGrpSpPr>
          <p:cNvPr id="139" name="Google Shape;139;g31c365ece61_0_67"/>
          <p:cNvGrpSpPr/>
          <p:nvPr/>
        </p:nvGrpSpPr>
        <p:grpSpPr>
          <a:xfrm>
            <a:off x="5625100" y="346800"/>
            <a:ext cx="7209327" cy="1514614"/>
            <a:chOff x="-1" y="0"/>
            <a:chExt cx="4274727" cy="482100"/>
          </a:xfrm>
        </p:grpSpPr>
        <p:sp>
          <p:nvSpPr>
            <p:cNvPr id="140" name="Google Shape;140;g31c365ece61_0_67"/>
            <p:cNvSpPr/>
            <p:nvPr/>
          </p:nvSpPr>
          <p:spPr>
            <a:xfrm>
              <a:off x="0" y="0"/>
              <a:ext cx="4274726" cy="482034"/>
            </a:xfrm>
            <a:custGeom>
              <a:rect b="b" l="l" r="r" t="t"/>
              <a:pathLst>
                <a:path extrusionOk="0" h="482034" w="4274726">
                  <a:moveTo>
                    <a:pt x="0" y="0"/>
                  </a:moveTo>
                  <a:lnTo>
                    <a:pt x="4274726" y="0"/>
                  </a:lnTo>
                  <a:lnTo>
                    <a:pt x="4274726" y="482034"/>
                  </a:lnTo>
                  <a:lnTo>
                    <a:pt x="0" y="482034"/>
                  </a:lnTo>
                  <a:close/>
                </a:path>
              </a:pathLst>
            </a:custGeom>
            <a:solidFill>
              <a:srgbClr val="F4956F"/>
            </a:solidFill>
            <a:ln>
              <a:noFill/>
            </a:ln>
          </p:spPr>
        </p:sp>
        <p:sp>
          <p:nvSpPr>
            <p:cNvPr id="141" name="Google Shape;141;g31c365ece61_0_67"/>
            <p:cNvSpPr txBox="1"/>
            <p:nvPr/>
          </p:nvSpPr>
          <p:spPr>
            <a:xfrm>
              <a:off x="-1" y="0"/>
              <a:ext cx="4274700" cy="4821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rPr b="1" lang="en-US" sz="4200">
                  <a:solidFill>
                    <a:schemeClr val="lt1"/>
                  </a:solidFill>
                  <a:latin typeface="Calibri"/>
                  <a:ea typeface="Calibri"/>
                  <a:cs typeface="Calibri"/>
                  <a:sym typeface="Calibri"/>
                </a:rPr>
                <a:t>Workflow</a:t>
              </a:r>
              <a:r>
                <a:rPr b="1" lang="en-US" sz="4200">
                  <a:solidFill>
                    <a:schemeClr val="lt1"/>
                  </a:solidFill>
                  <a:latin typeface="Calibri"/>
                  <a:ea typeface="Calibri"/>
                  <a:cs typeface="Calibri"/>
                  <a:sym typeface="Calibri"/>
                </a:rPr>
                <a:t> Diagram</a:t>
              </a:r>
              <a:endParaRPr b="1" i="0" sz="4200" u="none" cap="none" strike="noStrike">
                <a:solidFill>
                  <a:schemeClr val="lt1"/>
                </a:solidFill>
                <a:latin typeface="Calibri"/>
                <a:ea typeface="Calibri"/>
                <a:cs typeface="Calibri"/>
                <a:sym typeface="Calibri"/>
              </a:endParaRPr>
            </a:p>
          </p:txBody>
        </p:sp>
      </p:grpSp>
      <p:sp>
        <p:nvSpPr>
          <p:cNvPr id="142" name="Google Shape;142;g31c365ece61_0_67"/>
          <p:cNvSpPr txBox="1"/>
          <p:nvPr/>
        </p:nvSpPr>
        <p:spPr>
          <a:xfrm>
            <a:off x="2246450" y="4241325"/>
            <a:ext cx="1596300" cy="44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DDinter</a:t>
            </a:r>
            <a:endParaRPr sz="32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7F1F4"/>
        </a:solidFill>
      </p:bgPr>
    </p:bg>
    <p:spTree>
      <p:nvGrpSpPr>
        <p:cNvPr id="146" name="Shape 146"/>
        <p:cNvGrpSpPr/>
        <p:nvPr/>
      </p:nvGrpSpPr>
      <p:grpSpPr>
        <a:xfrm>
          <a:off x="0" y="0"/>
          <a:ext cx="0" cy="0"/>
          <a:chOff x="0" y="0"/>
          <a:chExt cx="0" cy="0"/>
        </a:xfrm>
      </p:grpSpPr>
      <p:grpSp>
        <p:nvGrpSpPr>
          <p:cNvPr id="147" name="Google Shape;147;p3"/>
          <p:cNvGrpSpPr/>
          <p:nvPr/>
        </p:nvGrpSpPr>
        <p:grpSpPr>
          <a:xfrm>
            <a:off x="0" y="0"/>
            <a:ext cx="18288000" cy="2612220"/>
            <a:chOff x="0" y="0"/>
            <a:chExt cx="4816593" cy="687992"/>
          </a:xfrm>
        </p:grpSpPr>
        <p:sp>
          <p:nvSpPr>
            <p:cNvPr id="148" name="Google Shape;148;p3"/>
            <p:cNvSpPr/>
            <p:nvPr/>
          </p:nvSpPr>
          <p:spPr>
            <a:xfrm>
              <a:off x="0" y="0"/>
              <a:ext cx="4816592" cy="687992"/>
            </a:xfrm>
            <a:custGeom>
              <a:rect b="b" l="l" r="r" t="t"/>
              <a:pathLst>
                <a:path extrusionOk="0" h="687992" w="4816592">
                  <a:moveTo>
                    <a:pt x="0" y="0"/>
                  </a:moveTo>
                  <a:lnTo>
                    <a:pt x="4816592" y="0"/>
                  </a:lnTo>
                  <a:lnTo>
                    <a:pt x="4816592" y="687992"/>
                  </a:lnTo>
                  <a:lnTo>
                    <a:pt x="0" y="687992"/>
                  </a:lnTo>
                  <a:close/>
                </a:path>
              </a:pathLst>
            </a:custGeom>
            <a:solidFill>
              <a:srgbClr val="A1D4E1"/>
            </a:solidFill>
            <a:ln>
              <a:noFill/>
            </a:ln>
          </p:spPr>
        </p:sp>
        <p:sp>
          <p:nvSpPr>
            <p:cNvPr id="149" name="Google Shape;149;p3"/>
            <p:cNvSpPr txBox="1"/>
            <p:nvPr/>
          </p:nvSpPr>
          <p:spPr>
            <a:xfrm>
              <a:off x="0" y="0"/>
              <a:ext cx="4816593" cy="687992"/>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0" name="Google Shape;150;p3"/>
          <p:cNvGrpSpPr/>
          <p:nvPr/>
        </p:nvGrpSpPr>
        <p:grpSpPr>
          <a:xfrm>
            <a:off x="1028700" y="781999"/>
            <a:ext cx="16230600" cy="1830221"/>
            <a:chOff x="0" y="0"/>
            <a:chExt cx="4274726" cy="482034"/>
          </a:xfrm>
        </p:grpSpPr>
        <p:sp>
          <p:nvSpPr>
            <p:cNvPr id="151" name="Google Shape;151;p3"/>
            <p:cNvSpPr/>
            <p:nvPr/>
          </p:nvSpPr>
          <p:spPr>
            <a:xfrm>
              <a:off x="0" y="0"/>
              <a:ext cx="4274726" cy="482034"/>
            </a:xfrm>
            <a:custGeom>
              <a:rect b="b" l="l" r="r" t="t"/>
              <a:pathLst>
                <a:path extrusionOk="0" h="482034" w="4274726">
                  <a:moveTo>
                    <a:pt x="0" y="0"/>
                  </a:moveTo>
                  <a:lnTo>
                    <a:pt x="4274726" y="0"/>
                  </a:lnTo>
                  <a:lnTo>
                    <a:pt x="4274726" y="482034"/>
                  </a:lnTo>
                  <a:lnTo>
                    <a:pt x="0" y="482034"/>
                  </a:lnTo>
                  <a:close/>
                </a:path>
              </a:pathLst>
            </a:custGeom>
            <a:solidFill>
              <a:srgbClr val="F4956F"/>
            </a:solidFill>
            <a:ln>
              <a:noFill/>
            </a:ln>
          </p:spPr>
        </p:sp>
        <p:sp>
          <p:nvSpPr>
            <p:cNvPr id="152" name="Google Shape;152;p3"/>
            <p:cNvSpPr txBox="1"/>
            <p:nvPr/>
          </p:nvSpPr>
          <p:spPr>
            <a:xfrm>
              <a:off x="0" y="0"/>
              <a:ext cx="4274726" cy="482034"/>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3" name="Google Shape;153;p3"/>
          <p:cNvGrpSpPr/>
          <p:nvPr/>
        </p:nvGrpSpPr>
        <p:grpSpPr>
          <a:xfrm>
            <a:off x="1028700" y="2612220"/>
            <a:ext cx="16230600" cy="6646080"/>
            <a:chOff x="0" y="0"/>
            <a:chExt cx="4274726" cy="1750408"/>
          </a:xfrm>
        </p:grpSpPr>
        <p:sp>
          <p:nvSpPr>
            <p:cNvPr id="154" name="Google Shape;154;p3"/>
            <p:cNvSpPr/>
            <p:nvPr/>
          </p:nvSpPr>
          <p:spPr>
            <a:xfrm>
              <a:off x="0" y="0"/>
              <a:ext cx="4274726" cy="1750408"/>
            </a:xfrm>
            <a:custGeom>
              <a:rect b="b" l="l" r="r" t="t"/>
              <a:pathLst>
                <a:path extrusionOk="0" h="1750408" w="4274726">
                  <a:moveTo>
                    <a:pt x="0" y="0"/>
                  </a:moveTo>
                  <a:lnTo>
                    <a:pt x="4274726" y="0"/>
                  </a:lnTo>
                  <a:lnTo>
                    <a:pt x="4274726" y="1750408"/>
                  </a:lnTo>
                  <a:lnTo>
                    <a:pt x="0" y="1750408"/>
                  </a:lnTo>
                  <a:close/>
                </a:path>
              </a:pathLst>
            </a:custGeom>
            <a:solidFill>
              <a:srgbClr val="FFFFFF"/>
            </a:solidFill>
            <a:ln>
              <a:noFill/>
            </a:ln>
          </p:spPr>
        </p:sp>
        <p:sp>
          <p:nvSpPr>
            <p:cNvPr id="155" name="Google Shape;155;p3"/>
            <p:cNvSpPr txBox="1"/>
            <p:nvPr/>
          </p:nvSpPr>
          <p:spPr>
            <a:xfrm>
              <a:off x="0" y="0"/>
              <a:ext cx="4274726" cy="1750408"/>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6" name="Google Shape;156;p3"/>
          <p:cNvSpPr txBox="1"/>
          <p:nvPr/>
        </p:nvSpPr>
        <p:spPr>
          <a:xfrm>
            <a:off x="1796737" y="1209675"/>
            <a:ext cx="14694600" cy="11853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lang="en-US" sz="7700">
                <a:solidFill>
                  <a:srgbClr val="FFFFFF"/>
                </a:solidFill>
              </a:rPr>
              <a:t>Data Extraction &amp; Cleaning</a:t>
            </a:r>
            <a:endParaRPr/>
          </a:p>
        </p:txBody>
      </p:sp>
      <p:sp>
        <p:nvSpPr>
          <p:cNvPr id="157" name="Google Shape;157;p3"/>
          <p:cNvSpPr txBox="1"/>
          <p:nvPr/>
        </p:nvSpPr>
        <p:spPr>
          <a:xfrm>
            <a:off x="1796737" y="3352715"/>
            <a:ext cx="144408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a:p>
        </p:txBody>
      </p:sp>
      <p:sp>
        <p:nvSpPr>
          <p:cNvPr id="158" name="Google Shape;158;p3"/>
          <p:cNvSpPr txBox="1"/>
          <p:nvPr/>
        </p:nvSpPr>
        <p:spPr>
          <a:xfrm>
            <a:off x="1360050" y="2612225"/>
            <a:ext cx="15567900" cy="619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2500">
                <a:solidFill>
                  <a:schemeClr val="dk1"/>
                </a:solidFill>
              </a:rPr>
              <a:t>1. </a:t>
            </a:r>
            <a:r>
              <a:rPr b="1" lang="en-US" sz="2500">
                <a:solidFill>
                  <a:schemeClr val="dk1"/>
                </a:solidFill>
              </a:rPr>
              <a:t>Raw Data</a:t>
            </a:r>
            <a:r>
              <a:rPr lang="en-US" sz="2500">
                <a:solidFill>
                  <a:schemeClr val="dk1"/>
                </a:solidFill>
              </a:rPr>
              <a:t>: The initial dataset was obtained from DDInter, mapping drug-drug interactions (DDI). The data included drug names and associated interaction labels.</a:t>
            </a:r>
            <a:endParaRPr sz="2500">
              <a:solidFill>
                <a:schemeClr val="dk1"/>
              </a:solidFill>
            </a:endParaRPr>
          </a:p>
          <a:p>
            <a:pPr indent="-228600" lvl="0" marL="457200" rtl="0" algn="l">
              <a:lnSpc>
                <a:spcPct val="115000"/>
              </a:lnSpc>
              <a:spcBef>
                <a:spcPts val="1200"/>
              </a:spcBef>
              <a:spcAft>
                <a:spcPts val="0"/>
              </a:spcAft>
              <a:buNone/>
            </a:pPr>
            <a:r>
              <a:rPr b="1" lang="en-US" sz="2500">
                <a:solidFill>
                  <a:schemeClr val="dk1"/>
                </a:solidFill>
              </a:rPr>
              <a:t>Additional Data Sources</a:t>
            </a:r>
            <a:r>
              <a:rPr lang="en-US" sz="2500">
                <a:solidFill>
                  <a:schemeClr val="dk1"/>
                </a:solidFill>
              </a:rPr>
              <a:t>:</a:t>
            </a:r>
            <a:endParaRPr sz="2500">
              <a:solidFill>
                <a:schemeClr val="dk1"/>
              </a:solidFill>
            </a:endParaRPr>
          </a:p>
          <a:p>
            <a:pPr indent="-387350" lvl="0" marL="457200" rtl="0" algn="l">
              <a:lnSpc>
                <a:spcPct val="115000"/>
              </a:lnSpc>
              <a:spcBef>
                <a:spcPts val="1200"/>
              </a:spcBef>
              <a:spcAft>
                <a:spcPts val="0"/>
              </a:spcAft>
              <a:buClr>
                <a:schemeClr val="dk1"/>
              </a:buClr>
              <a:buSzPts val="2500"/>
              <a:buChar char="●"/>
            </a:pPr>
            <a:r>
              <a:rPr b="1" lang="en-US" sz="2500">
                <a:solidFill>
                  <a:schemeClr val="dk1"/>
                </a:solidFill>
              </a:rPr>
              <a:t>Drug CIDs</a:t>
            </a:r>
            <a:r>
              <a:rPr lang="en-US" sz="2500">
                <a:solidFill>
                  <a:schemeClr val="dk1"/>
                </a:solidFill>
              </a:rPr>
              <a:t>: A mapping of drug names to their respective PubChem Compound Identifiers (CIDs).</a:t>
            </a:r>
            <a:endParaRPr sz="2500">
              <a:solidFill>
                <a:schemeClr val="dk1"/>
              </a:solidFill>
            </a:endParaRPr>
          </a:p>
          <a:p>
            <a:pPr indent="-387350" lvl="0" marL="457200" rtl="0" algn="l">
              <a:lnSpc>
                <a:spcPct val="115000"/>
              </a:lnSpc>
              <a:spcBef>
                <a:spcPts val="0"/>
              </a:spcBef>
              <a:spcAft>
                <a:spcPts val="0"/>
              </a:spcAft>
              <a:buClr>
                <a:schemeClr val="dk1"/>
              </a:buClr>
              <a:buSzPts val="2500"/>
              <a:buChar char="●"/>
            </a:pPr>
            <a:r>
              <a:rPr b="1" lang="en-US" sz="2500">
                <a:solidFill>
                  <a:schemeClr val="dk1"/>
                </a:solidFill>
              </a:rPr>
              <a:t>PubChem Data</a:t>
            </a:r>
            <a:r>
              <a:rPr lang="en-US" sz="2500">
                <a:solidFill>
                  <a:schemeClr val="dk1"/>
                </a:solidFill>
              </a:rPr>
              <a:t>: Chemical and molecular descriptors for drugs were retrieved using CIDs from PubChem</a:t>
            </a:r>
            <a:endParaRPr sz="2500">
              <a:solidFill>
                <a:schemeClr val="dk1"/>
              </a:solidFill>
            </a:endParaRPr>
          </a:p>
          <a:p>
            <a:pPr indent="0" lvl="0" marL="0" rtl="0" algn="l">
              <a:lnSpc>
                <a:spcPct val="115000"/>
              </a:lnSpc>
              <a:spcBef>
                <a:spcPts val="1200"/>
              </a:spcBef>
              <a:spcAft>
                <a:spcPts val="0"/>
              </a:spcAft>
              <a:buNone/>
            </a:pPr>
            <a:r>
              <a:rPr b="1" lang="en-US" sz="2500">
                <a:solidFill>
                  <a:schemeClr val="dk1"/>
                </a:solidFill>
              </a:rPr>
              <a:t>2. Handling Multiple CIDs</a:t>
            </a:r>
            <a:endParaRPr b="1" sz="2500">
              <a:solidFill>
                <a:schemeClr val="dk1"/>
              </a:solidFill>
            </a:endParaRPr>
          </a:p>
          <a:p>
            <a:pPr indent="-387350" lvl="0" marL="457200" rtl="0" algn="l">
              <a:lnSpc>
                <a:spcPct val="115000"/>
              </a:lnSpc>
              <a:spcBef>
                <a:spcPts val="1200"/>
              </a:spcBef>
              <a:spcAft>
                <a:spcPts val="0"/>
              </a:spcAft>
              <a:buClr>
                <a:schemeClr val="dk1"/>
              </a:buClr>
              <a:buSzPts val="2500"/>
              <a:buChar char="●"/>
            </a:pPr>
            <a:r>
              <a:rPr b="1" lang="en-US" sz="2500">
                <a:solidFill>
                  <a:schemeClr val="dk1"/>
                </a:solidFill>
              </a:rPr>
              <a:t>Issue</a:t>
            </a:r>
            <a:r>
              <a:rPr lang="en-US" sz="2500">
                <a:solidFill>
                  <a:schemeClr val="dk1"/>
                </a:solidFill>
              </a:rPr>
              <a:t>: Multiple CIDs exist for the same drug, each representing different molecular forms or chemical properties (e.g., Naltrexone with 13 CIDs).</a:t>
            </a:r>
            <a:endParaRPr sz="2500">
              <a:solidFill>
                <a:schemeClr val="dk1"/>
              </a:solidFill>
            </a:endParaRPr>
          </a:p>
          <a:p>
            <a:pPr indent="-387350" lvl="0" marL="457200" rtl="0" algn="l">
              <a:lnSpc>
                <a:spcPct val="115000"/>
              </a:lnSpc>
              <a:spcBef>
                <a:spcPts val="0"/>
              </a:spcBef>
              <a:spcAft>
                <a:spcPts val="0"/>
              </a:spcAft>
              <a:buClr>
                <a:schemeClr val="dk1"/>
              </a:buClr>
              <a:buSzPts val="2500"/>
              <a:buChar char="●"/>
            </a:pPr>
            <a:r>
              <a:rPr b="1" lang="en-US" sz="2500">
                <a:solidFill>
                  <a:schemeClr val="dk1"/>
                </a:solidFill>
              </a:rPr>
              <a:t>Decision</a:t>
            </a:r>
            <a:r>
              <a:rPr lang="en-US" sz="2500">
                <a:solidFill>
                  <a:schemeClr val="dk1"/>
                </a:solidFill>
              </a:rPr>
              <a:t>: To leave multiple CIDs unprocessed due to time constraints and the lack of more granular data. This decision was made to allow for faster project progression.</a:t>
            </a:r>
            <a:endParaRPr b="1" sz="25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7F1F4"/>
        </a:solidFill>
      </p:bgPr>
    </p:bg>
    <p:spTree>
      <p:nvGrpSpPr>
        <p:cNvPr id="162" name="Shape 162"/>
        <p:cNvGrpSpPr/>
        <p:nvPr/>
      </p:nvGrpSpPr>
      <p:grpSpPr>
        <a:xfrm>
          <a:off x="0" y="0"/>
          <a:ext cx="0" cy="0"/>
          <a:chOff x="0" y="0"/>
          <a:chExt cx="0" cy="0"/>
        </a:xfrm>
      </p:grpSpPr>
      <p:grpSp>
        <p:nvGrpSpPr>
          <p:cNvPr id="163" name="Google Shape;163;g31b8a490130_2_0"/>
          <p:cNvGrpSpPr/>
          <p:nvPr/>
        </p:nvGrpSpPr>
        <p:grpSpPr>
          <a:xfrm>
            <a:off x="0" y="0"/>
            <a:ext cx="18288118" cy="2612237"/>
            <a:chOff x="0" y="0"/>
            <a:chExt cx="4816592" cy="687992"/>
          </a:xfrm>
        </p:grpSpPr>
        <p:sp>
          <p:nvSpPr>
            <p:cNvPr id="164" name="Google Shape;164;g31b8a490130_2_0"/>
            <p:cNvSpPr/>
            <p:nvPr/>
          </p:nvSpPr>
          <p:spPr>
            <a:xfrm>
              <a:off x="0" y="0"/>
              <a:ext cx="4816592" cy="687992"/>
            </a:xfrm>
            <a:custGeom>
              <a:rect b="b" l="l" r="r" t="t"/>
              <a:pathLst>
                <a:path extrusionOk="0" h="687992" w="4816592">
                  <a:moveTo>
                    <a:pt x="0" y="0"/>
                  </a:moveTo>
                  <a:lnTo>
                    <a:pt x="4816592" y="0"/>
                  </a:lnTo>
                  <a:lnTo>
                    <a:pt x="4816592" y="687992"/>
                  </a:lnTo>
                  <a:lnTo>
                    <a:pt x="0" y="687992"/>
                  </a:lnTo>
                  <a:close/>
                </a:path>
              </a:pathLst>
            </a:custGeom>
            <a:solidFill>
              <a:srgbClr val="A1D4E1"/>
            </a:solidFill>
            <a:ln>
              <a:noFill/>
            </a:ln>
          </p:spPr>
        </p:sp>
        <p:sp>
          <p:nvSpPr>
            <p:cNvPr id="165" name="Google Shape;165;g31b8a490130_2_0"/>
            <p:cNvSpPr txBox="1"/>
            <p:nvPr/>
          </p:nvSpPr>
          <p:spPr>
            <a:xfrm>
              <a:off x="0" y="0"/>
              <a:ext cx="4816500" cy="6879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6" name="Google Shape;166;g31b8a490130_2_0"/>
          <p:cNvGrpSpPr/>
          <p:nvPr/>
        </p:nvGrpSpPr>
        <p:grpSpPr>
          <a:xfrm>
            <a:off x="1028700" y="781999"/>
            <a:ext cx="16230707" cy="1830485"/>
            <a:chOff x="0" y="0"/>
            <a:chExt cx="4274726" cy="482100"/>
          </a:xfrm>
        </p:grpSpPr>
        <p:sp>
          <p:nvSpPr>
            <p:cNvPr id="167" name="Google Shape;167;g31b8a490130_2_0"/>
            <p:cNvSpPr/>
            <p:nvPr/>
          </p:nvSpPr>
          <p:spPr>
            <a:xfrm>
              <a:off x="0" y="0"/>
              <a:ext cx="4274726" cy="482034"/>
            </a:xfrm>
            <a:custGeom>
              <a:rect b="b" l="l" r="r" t="t"/>
              <a:pathLst>
                <a:path extrusionOk="0" h="482034" w="4274726">
                  <a:moveTo>
                    <a:pt x="0" y="0"/>
                  </a:moveTo>
                  <a:lnTo>
                    <a:pt x="4274726" y="0"/>
                  </a:lnTo>
                  <a:lnTo>
                    <a:pt x="4274726" y="482034"/>
                  </a:lnTo>
                  <a:lnTo>
                    <a:pt x="0" y="482034"/>
                  </a:lnTo>
                  <a:close/>
                </a:path>
              </a:pathLst>
            </a:custGeom>
            <a:solidFill>
              <a:srgbClr val="F4956F"/>
            </a:solidFill>
            <a:ln>
              <a:noFill/>
            </a:ln>
          </p:spPr>
        </p:sp>
        <p:sp>
          <p:nvSpPr>
            <p:cNvPr id="168" name="Google Shape;168;g31b8a490130_2_0"/>
            <p:cNvSpPr txBox="1"/>
            <p:nvPr/>
          </p:nvSpPr>
          <p:spPr>
            <a:xfrm>
              <a:off x="0" y="0"/>
              <a:ext cx="4274700" cy="4821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9" name="Google Shape;169;g31b8a490130_2_0"/>
          <p:cNvGrpSpPr/>
          <p:nvPr/>
        </p:nvGrpSpPr>
        <p:grpSpPr>
          <a:xfrm>
            <a:off x="1028700" y="2612220"/>
            <a:ext cx="16230707" cy="6646473"/>
            <a:chOff x="0" y="0"/>
            <a:chExt cx="4274726" cy="1750500"/>
          </a:xfrm>
        </p:grpSpPr>
        <p:sp>
          <p:nvSpPr>
            <p:cNvPr id="170" name="Google Shape;170;g31b8a490130_2_0"/>
            <p:cNvSpPr/>
            <p:nvPr/>
          </p:nvSpPr>
          <p:spPr>
            <a:xfrm>
              <a:off x="0" y="0"/>
              <a:ext cx="4274726" cy="1750408"/>
            </a:xfrm>
            <a:custGeom>
              <a:rect b="b" l="l" r="r" t="t"/>
              <a:pathLst>
                <a:path extrusionOk="0" h="1750408" w="4274726">
                  <a:moveTo>
                    <a:pt x="0" y="0"/>
                  </a:moveTo>
                  <a:lnTo>
                    <a:pt x="4274726" y="0"/>
                  </a:lnTo>
                  <a:lnTo>
                    <a:pt x="4274726" y="1750408"/>
                  </a:lnTo>
                  <a:lnTo>
                    <a:pt x="0" y="1750408"/>
                  </a:lnTo>
                  <a:close/>
                </a:path>
              </a:pathLst>
            </a:custGeom>
            <a:solidFill>
              <a:srgbClr val="FFFFFF"/>
            </a:solidFill>
            <a:ln>
              <a:noFill/>
            </a:ln>
          </p:spPr>
        </p:sp>
        <p:sp>
          <p:nvSpPr>
            <p:cNvPr id="171" name="Google Shape;171;g31b8a490130_2_0"/>
            <p:cNvSpPr txBox="1"/>
            <p:nvPr/>
          </p:nvSpPr>
          <p:spPr>
            <a:xfrm>
              <a:off x="0" y="0"/>
              <a:ext cx="4274700" cy="17505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2" name="Google Shape;172;g31b8a490130_2_0"/>
          <p:cNvSpPr txBox="1"/>
          <p:nvPr/>
        </p:nvSpPr>
        <p:spPr>
          <a:xfrm>
            <a:off x="1796737" y="1209675"/>
            <a:ext cx="14694600" cy="11853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lang="en-US" sz="7700">
                <a:solidFill>
                  <a:srgbClr val="FFFFFF"/>
                </a:solidFill>
              </a:rPr>
              <a:t>Data Extraction &amp; Cleaning</a:t>
            </a:r>
            <a:endParaRPr/>
          </a:p>
        </p:txBody>
      </p:sp>
      <p:sp>
        <p:nvSpPr>
          <p:cNvPr id="173" name="Google Shape;173;g31b8a490130_2_0"/>
          <p:cNvSpPr txBox="1"/>
          <p:nvPr/>
        </p:nvSpPr>
        <p:spPr>
          <a:xfrm>
            <a:off x="1796737" y="3352715"/>
            <a:ext cx="144408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a:p>
        </p:txBody>
      </p:sp>
      <p:sp>
        <p:nvSpPr>
          <p:cNvPr id="174" name="Google Shape;174;g31b8a490130_2_0"/>
          <p:cNvSpPr txBox="1"/>
          <p:nvPr/>
        </p:nvSpPr>
        <p:spPr>
          <a:xfrm>
            <a:off x="1360050" y="2612225"/>
            <a:ext cx="15567900" cy="634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2500">
                <a:solidFill>
                  <a:schemeClr val="dk1"/>
                </a:solidFill>
              </a:rPr>
              <a:t>3. Data Augmentation via Multiple CIDs</a:t>
            </a:r>
            <a:endParaRPr sz="2500">
              <a:solidFill>
                <a:schemeClr val="dk1"/>
              </a:solidFill>
            </a:endParaRPr>
          </a:p>
          <a:p>
            <a:pPr indent="-387350" lvl="1" marL="914400" rtl="0" algn="l">
              <a:lnSpc>
                <a:spcPct val="115000"/>
              </a:lnSpc>
              <a:spcBef>
                <a:spcPts val="1200"/>
              </a:spcBef>
              <a:spcAft>
                <a:spcPts val="0"/>
              </a:spcAft>
              <a:buClr>
                <a:schemeClr val="dk1"/>
              </a:buClr>
              <a:buSzPts val="2500"/>
              <a:buChar char="○"/>
            </a:pPr>
            <a:r>
              <a:rPr b="1" lang="en-US" sz="2500">
                <a:solidFill>
                  <a:schemeClr val="dk1"/>
                </a:solidFill>
              </a:rPr>
              <a:t>Augmentation</a:t>
            </a:r>
            <a:r>
              <a:rPr lang="en-US" sz="2500">
                <a:solidFill>
                  <a:schemeClr val="dk1"/>
                </a:solidFill>
              </a:rPr>
              <a:t>: Multiple CIDs per drug naturally expand the dataset by providing additional examples, especially for underrepresented drugs.</a:t>
            </a:r>
            <a:endParaRPr sz="2500">
              <a:solidFill>
                <a:schemeClr val="dk1"/>
              </a:solidFill>
            </a:endParaRPr>
          </a:p>
          <a:p>
            <a:pPr indent="-387350" lvl="1" marL="914400" rtl="0" algn="l">
              <a:lnSpc>
                <a:spcPct val="115000"/>
              </a:lnSpc>
              <a:spcBef>
                <a:spcPts val="0"/>
              </a:spcBef>
              <a:spcAft>
                <a:spcPts val="0"/>
              </a:spcAft>
              <a:buClr>
                <a:schemeClr val="dk1"/>
              </a:buClr>
              <a:buSzPts val="2500"/>
              <a:buChar char="○"/>
            </a:pPr>
            <a:r>
              <a:rPr b="1" lang="en-US" sz="2500">
                <a:solidFill>
                  <a:schemeClr val="dk1"/>
                </a:solidFill>
              </a:rPr>
              <a:t>Data Balance</a:t>
            </a:r>
            <a:r>
              <a:rPr lang="en-US" sz="2500">
                <a:solidFill>
                  <a:schemeClr val="dk1"/>
                </a:solidFill>
              </a:rPr>
              <a:t>: This approach helps mitigate class imbalances by increasing the presence of drugs with fewer associated data points, enhancing model performance.</a:t>
            </a:r>
            <a:endParaRPr sz="2500">
              <a:solidFill>
                <a:schemeClr val="dk1"/>
              </a:solidFill>
            </a:endParaRPr>
          </a:p>
          <a:p>
            <a:pPr indent="0" lvl="0" marL="0" rtl="0" algn="l">
              <a:lnSpc>
                <a:spcPct val="115000"/>
              </a:lnSpc>
              <a:spcBef>
                <a:spcPts val="1200"/>
              </a:spcBef>
              <a:spcAft>
                <a:spcPts val="0"/>
              </a:spcAft>
              <a:buNone/>
            </a:pPr>
            <a:r>
              <a:rPr b="1" lang="en-US" sz="2500">
                <a:solidFill>
                  <a:schemeClr val="dk1"/>
                </a:solidFill>
              </a:rPr>
              <a:t>4. Current Limitations</a:t>
            </a:r>
            <a:endParaRPr b="1" sz="2500">
              <a:solidFill>
                <a:schemeClr val="dk1"/>
              </a:solidFill>
            </a:endParaRPr>
          </a:p>
          <a:p>
            <a:pPr indent="-387350" lvl="0" marL="457200" rtl="0" algn="l">
              <a:lnSpc>
                <a:spcPct val="115000"/>
              </a:lnSpc>
              <a:spcBef>
                <a:spcPts val="1200"/>
              </a:spcBef>
              <a:spcAft>
                <a:spcPts val="0"/>
              </a:spcAft>
              <a:buClr>
                <a:schemeClr val="dk1"/>
              </a:buClr>
              <a:buSzPts val="2500"/>
              <a:buChar char="●"/>
            </a:pPr>
            <a:r>
              <a:rPr b="1" lang="en-US" sz="2500">
                <a:solidFill>
                  <a:schemeClr val="dk1"/>
                </a:solidFill>
              </a:rPr>
              <a:t>Bias &amp; Redundancy</a:t>
            </a:r>
            <a:r>
              <a:rPr lang="en-US" sz="2500">
                <a:solidFill>
                  <a:schemeClr val="dk1"/>
                </a:solidFill>
              </a:rPr>
              <a:t>: The dataset may have biases due to overrepresentation of drugs with more CIDs, and redundancy due to similar chemical properties across multiple CIDs.</a:t>
            </a:r>
            <a:endParaRPr sz="2500">
              <a:solidFill>
                <a:schemeClr val="dk1"/>
              </a:solidFill>
            </a:endParaRPr>
          </a:p>
          <a:p>
            <a:pPr indent="-387350" lvl="0" marL="457200" rtl="0" algn="l">
              <a:lnSpc>
                <a:spcPct val="115000"/>
              </a:lnSpc>
              <a:spcBef>
                <a:spcPts val="0"/>
              </a:spcBef>
              <a:spcAft>
                <a:spcPts val="0"/>
              </a:spcAft>
              <a:buClr>
                <a:schemeClr val="dk1"/>
              </a:buClr>
              <a:buSzPts val="2500"/>
              <a:buChar char="●"/>
            </a:pPr>
            <a:r>
              <a:rPr b="1" lang="en-US" sz="2500">
                <a:solidFill>
                  <a:schemeClr val="dk1"/>
                </a:solidFill>
              </a:rPr>
              <a:t>Future Refinement</a:t>
            </a:r>
            <a:r>
              <a:rPr lang="en-US" sz="2500">
                <a:solidFill>
                  <a:schemeClr val="dk1"/>
                </a:solidFill>
              </a:rPr>
              <a:t>: The approach will be revisited if more data becomes available, considering potential methods like averaging descriptors or dimensionality reduction.</a:t>
            </a:r>
            <a:endParaRPr sz="2500">
              <a:solidFill>
                <a:schemeClr val="dk1"/>
              </a:solidFill>
            </a:endParaRPr>
          </a:p>
          <a:p>
            <a:pPr indent="-387350" lvl="0" marL="457200" rtl="0" algn="l">
              <a:lnSpc>
                <a:spcPct val="115000"/>
              </a:lnSpc>
              <a:spcBef>
                <a:spcPts val="0"/>
              </a:spcBef>
              <a:spcAft>
                <a:spcPts val="0"/>
              </a:spcAft>
              <a:buClr>
                <a:schemeClr val="dk1"/>
              </a:buClr>
              <a:buSzPts val="2500"/>
              <a:buChar char="●"/>
            </a:pPr>
            <a:r>
              <a:rPr b="1" lang="en-US" sz="2500">
                <a:solidFill>
                  <a:schemeClr val="dk1"/>
                </a:solidFill>
              </a:rPr>
              <a:t>Lack of Relevant Features: </a:t>
            </a:r>
            <a:r>
              <a:rPr lang="en-US" sz="2500">
                <a:solidFill>
                  <a:schemeClr val="dk1"/>
                </a:solidFill>
              </a:rPr>
              <a:t>We are relying only on molecular descriptors so far to train the machine learning models. This is not optimal, since we could also leverage pharmacokinetic and pharmacodynamic information as well that is very relevant for understanding the underlying phenomena. </a:t>
            </a:r>
            <a:endParaRPr b="1" sz="25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F1F4"/>
        </a:solidFill>
      </p:bgPr>
    </p:bg>
    <p:spTree>
      <p:nvGrpSpPr>
        <p:cNvPr id="178" name="Shape 178"/>
        <p:cNvGrpSpPr/>
        <p:nvPr/>
      </p:nvGrpSpPr>
      <p:grpSpPr>
        <a:xfrm>
          <a:off x="0" y="0"/>
          <a:ext cx="0" cy="0"/>
          <a:chOff x="0" y="0"/>
          <a:chExt cx="0" cy="0"/>
        </a:xfrm>
      </p:grpSpPr>
      <p:grpSp>
        <p:nvGrpSpPr>
          <p:cNvPr id="179" name="Google Shape;179;g31c365ece61_0_48"/>
          <p:cNvGrpSpPr/>
          <p:nvPr/>
        </p:nvGrpSpPr>
        <p:grpSpPr>
          <a:xfrm>
            <a:off x="0" y="0"/>
            <a:ext cx="18288118" cy="2612237"/>
            <a:chOff x="0" y="0"/>
            <a:chExt cx="4816592" cy="687992"/>
          </a:xfrm>
        </p:grpSpPr>
        <p:sp>
          <p:nvSpPr>
            <p:cNvPr id="180" name="Google Shape;180;g31c365ece61_0_48"/>
            <p:cNvSpPr/>
            <p:nvPr/>
          </p:nvSpPr>
          <p:spPr>
            <a:xfrm>
              <a:off x="0" y="0"/>
              <a:ext cx="4816592" cy="687992"/>
            </a:xfrm>
            <a:custGeom>
              <a:rect b="b" l="l" r="r" t="t"/>
              <a:pathLst>
                <a:path extrusionOk="0" h="687992" w="4816592">
                  <a:moveTo>
                    <a:pt x="0" y="0"/>
                  </a:moveTo>
                  <a:lnTo>
                    <a:pt x="4816592" y="0"/>
                  </a:lnTo>
                  <a:lnTo>
                    <a:pt x="4816592" y="687992"/>
                  </a:lnTo>
                  <a:lnTo>
                    <a:pt x="0" y="687992"/>
                  </a:lnTo>
                  <a:close/>
                </a:path>
              </a:pathLst>
            </a:custGeom>
            <a:solidFill>
              <a:srgbClr val="A1D4E1"/>
            </a:solidFill>
            <a:ln>
              <a:noFill/>
            </a:ln>
          </p:spPr>
        </p:sp>
        <p:sp>
          <p:nvSpPr>
            <p:cNvPr id="181" name="Google Shape;181;g31c365ece61_0_48"/>
            <p:cNvSpPr txBox="1"/>
            <p:nvPr/>
          </p:nvSpPr>
          <p:spPr>
            <a:xfrm>
              <a:off x="0" y="0"/>
              <a:ext cx="4816500" cy="6879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2" name="Google Shape;182;g31c365ece61_0_48"/>
          <p:cNvGrpSpPr/>
          <p:nvPr/>
        </p:nvGrpSpPr>
        <p:grpSpPr>
          <a:xfrm>
            <a:off x="1028700" y="781999"/>
            <a:ext cx="16230707" cy="1830485"/>
            <a:chOff x="0" y="0"/>
            <a:chExt cx="4274726" cy="482100"/>
          </a:xfrm>
        </p:grpSpPr>
        <p:sp>
          <p:nvSpPr>
            <p:cNvPr id="183" name="Google Shape;183;g31c365ece61_0_48"/>
            <p:cNvSpPr/>
            <p:nvPr/>
          </p:nvSpPr>
          <p:spPr>
            <a:xfrm>
              <a:off x="0" y="0"/>
              <a:ext cx="4274726" cy="482034"/>
            </a:xfrm>
            <a:custGeom>
              <a:rect b="b" l="l" r="r" t="t"/>
              <a:pathLst>
                <a:path extrusionOk="0" h="482034" w="4274726">
                  <a:moveTo>
                    <a:pt x="0" y="0"/>
                  </a:moveTo>
                  <a:lnTo>
                    <a:pt x="4274726" y="0"/>
                  </a:lnTo>
                  <a:lnTo>
                    <a:pt x="4274726" y="482034"/>
                  </a:lnTo>
                  <a:lnTo>
                    <a:pt x="0" y="482034"/>
                  </a:lnTo>
                  <a:close/>
                </a:path>
              </a:pathLst>
            </a:custGeom>
            <a:solidFill>
              <a:srgbClr val="F4956F"/>
            </a:solidFill>
            <a:ln>
              <a:noFill/>
            </a:ln>
          </p:spPr>
        </p:sp>
        <p:sp>
          <p:nvSpPr>
            <p:cNvPr id="184" name="Google Shape;184;g31c365ece61_0_48"/>
            <p:cNvSpPr txBox="1"/>
            <p:nvPr/>
          </p:nvSpPr>
          <p:spPr>
            <a:xfrm>
              <a:off x="0" y="0"/>
              <a:ext cx="4274700" cy="4821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5" name="Google Shape;185;g31c365ece61_0_48"/>
          <p:cNvGrpSpPr/>
          <p:nvPr/>
        </p:nvGrpSpPr>
        <p:grpSpPr>
          <a:xfrm>
            <a:off x="1028700" y="2612220"/>
            <a:ext cx="16230707" cy="6646473"/>
            <a:chOff x="0" y="0"/>
            <a:chExt cx="4274726" cy="1750500"/>
          </a:xfrm>
        </p:grpSpPr>
        <p:sp>
          <p:nvSpPr>
            <p:cNvPr id="186" name="Google Shape;186;g31c365ece61_0_48"/>
            <p:cNvSpPr/>
            <p:nvPr/>
          </p:nvSpPr>
          <p:spPr>
            <a:xfrm>
              <a:off x="0" y="0"/>
              <a:ext cx="4274726" cy="1750408"/>
            </a:xfrm>
            <a:custGeom>
              <a:rect b="b" l="l" r="r" t="t"/>
              <a:pathLst>
                <a:path extrusionOk="0" h="1750408" w="4274726">
                  <a:moveTo>
                    <a:pt x="0" y="0"/>
                  </a:moveTo>
                  <a:lnTo>
                    <a:pt x="4274726" y="0"/>
                  </a:lnTo>
                  <a:lnTo>
                    <a:pt x="4274726" y="1750408"/>
                  </a:lnTo>
                  <a:lnTo>
                    <a:pt x="0" y="1750408"/>
                  </a:lnTo>
                  <a:close/>
                </a:path>
              </a:pathLst>
            </a:custGeom>
            <a:solidFill>
              <a:srgbClr val="FFFFFF"/>
            </a:solidFill>
            <a:ln>
              <a:noFill/>
            </a:ln>
          </p:spPr>
        </p:sp>
        <p:sp>
          <p:nvSpPr>
            <p:cNvPr id="187" name="Google Shape;187;g31c365ece61_0_48"/>
            <p:cNvSpPr txBox="1"/>
            <p:nvPr/>
          </p:nvSpPr>
          <p:spPr>
            <a:xfrm>
              <a:off x="0" y="0"/>
              <a:ext cx="4274700" cy="17505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8" name="Google Shape;188;g31c365ece61_0_48"/>
          <p:cNvSpPr txBox="1"/>
          <p:nvPr/>
        </p:nvSpPr>
        <p:spPr>
          <a:xfrm>
            <a:off x="1796737" y="1209675"/>
            <a:ext cx="14694600" cy="11853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lang="en-US" sz="7700">
                <a:solidFill>
                  <a:srgbClr val="FFFFFF"/>
                </a:solidFill>
              </a:rPr>
              <a:t>Data Set Challenges</a:t>
            </a:r>
            <a:endParaRPr/>
          </a:p>
        </p:txBody>
      </p:sp>
      <p:sp>
        <p:nvSpPr>
          <p:cNvPr id="189" name="Google Shape;189;g31c365ece61_0_48"/>
          <p:cNvSpPr txBox="1"/>
          <p:nvPr/>
        </p:nvSpPr>
        <p:spPr>
          <a:xfrm>
            <a:off x="1796737" y="3352715"/>
            <a:ext cx="144408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a:p>
        </p:txBody>
      </p:sp>
      <p:sp>
        <p:nvSpPr>
          <p:cNvPr id="190" name="Google Shape;190;g31c365ece61_0_48"/>
          <p:cNvSpPr txBox="1"/>
          <p:nvPr/>
        </p:nvSpPr>
        <p:spPr>
          <a:xfrm>
            <a:off x="1360050" y="2612225"/>
            <a:ext cx="15567900" cy="6195300"/>
          </a:xfrm>
          <a:prstGeom prst="rect">
            <a:avLst/>
          </a:prstGeom>
          <a:noFill/>
          <a:ln>
            <a:noFill/>
          </a:ln>
        </p:spPr>
        <p:txBody>
          <a:bodyPr anchorCtr="0" anchor="t" bIns="91425" lIns="91425" spcFirstLastPara="1" rIns="91425" wrap="square" tIns="91425">
            <a:noAutofit/>
          </a:bodyPr>
          <a:lstStyle/>
          <a:p>
            <a:pPr indent="-228600" lvl="0" marL="457200" rtl="0" algn="l">
              <a:lnSpc>
                <a:spcPct val="115000"/>
              </a:lnSpc>
              <a:spcBef>
                <a:spcPts val="1200"/>
              </a:spcBef>
              <a:spcAft>
                <a:spcPts val="0"/>
              </a:spcAft>
              <a:buNone/>
            </a:pPr>
            <a:r>
              <a:rPr b="1" lang="en-US" sz="2900">
                <a:solidFill>
                  <a:schemeClr val="dk1"/>
                </a:solidFill>
              </a:rPr>
              <a:t>Multiple CID Entries per Drug Name:</a:t>
            </a:r>
            <a:endParaRPr b="1" sz="2900">
              <a:solidFill>
                <a:schemeClr val="dk1"/>
              </a:solidFill>
            </a:endParaRPr>
          </a:p>
          <a:p>
            <a:pPr indent="-412750" lvl="0" marL="457200" rtl="0" algn="l">
              <a:lnSpc>
                <a:spcPct val="115000"/>
              </a:lnSpc>
              <a:spcBef>
                <a:spcPts val="1200"/>
              </a:spcBef>
              <a:spcAft>
                <a:spcPts val="0"/>
              </a:spcAft>
              <a:buClr>
                <a:schemeClr val="dk1"/>
              </a:buClr>
              <a:buSzPts val="2900"/>
              <a:buChar char="●"/>
            </a:pPr>
            <a:r>
              <a:rPr lang="en-US" sz="2900">
                <a:solidFill>
                  <a:schemeClr val="dk1"/>
                </a:solidFill>
              </a:rPr>
              <a:t>Each drug name in the PubChem database can have multiple CID entries.</a:t>
            </a:r>
            <a:endParaRPr sz="2900">
              <a:solidFill>
                <a:schemeClr val="dk1"/>
              </a:solidFill>
            </a:endParaRPr>
          </a:p>
          <a:p>
            <a:pPr indent="-412750" lvl="0" marL="457200" rtl="0" algn="l">
              <a:lnSpc>
                <a:spcPct val="115000"/>
              </a:lnSpc>
              <a:spcBef>
                <a:spcPts val="0"/>
              </a:spcBef>
              <a:spcAft>
                <a:spcPts val="0"/>
              </a:spcAft>
              <a:buClr>
                <a:schemeClr val="dk1"/>
              </a:buClr>
              <a:buSzPts val="2900"/>
              <a:buChar char="●"/>
            </a:pPr>
            <a:r>
              <a:rPr lang="en-US" sz="2900">
                <a:solidFill>
                  <a:schemeClr val="dk1"/>
                </a:solidFill>
              </a:rPr>
              <a:t>This can result in row duplication when analyzing drug-drug interactions.</a:t>
            </a:r>
            <a:endParaRPr sz="2900">
              <a:solidFill>
                <a:schemeClr val="dk1"/>
              </a:solidFill>
            </a:endParaRPr>
          </a:p>
          <a:p>
            <a:pPr indent="0" lvl="0" marL="0" rtl="0" algn="l">
              <a:lnSpc>
                <a:spcPct val="115000"/>
              </a:lnSpc>
              <a:spcBef>
                <a:spcPts val="1200"/>
              </a:spcBef>
              <a:spcAft>
                <a:spcPts val="0"/>
              </a:spcAft>
              <a:buNone/>
            </a:pPr>
            <a:r>
              <a:rPr b="1" lang="en-US" sz="2900">
                <a:solidFill>
                  <a:schemeClr val="dk1"/>
                </a:solidFill>
              </a:rPr>
              <a:t>Class Imbalance for the Level Label:</a:t>
            </a:r>
            <a:endParaRPr b="1" sz="2900">
              <a:solidFill>
                <a:schemeClr val="dk1"/>
              </a:solidFill>
            </a:endParaRPr>
          </a:p>
          <a:p>
            <a:pPr indent="-412750" lvl="0" marL="457200" rtl="0" algn="l">
              <a:lnSpc>
                <a:spcPct val="115000"/>
              </a:lnSpc>
              <a:spcBef>
                <a:spcPts val="1200"/>
              </a:spcBef>
              <a:spcAft>
                <a:spcPts val="0"/>
              </a:spcAft>
              <a:buClr>
                <a:schemeClr val="dk1"/>
              </a:buClr>
              <a:buSzPts val="2900"/>
              <a:buChar char="●"/>
            </a:pPr>
            <a:r>
              <a:rPr lang="en-US" sz="2900">
                <a:solidFill>
                  <a:schemeClr val="dk1"/>
                </a:solidFill>
              </a:rPr>
              <a:t>The Level label exhibits significant class imbalance, which could affect model performance and require appropriate handling during training.</a:t>
            </a:r>
            <a:endParaRPr sz="2900">
              <a:solidFill>
                <a:schemeClr val="dk1"/>
              </a:solidFill>
            </a:endParaRPr>
          </a:p>
          <a:p>
            <a:pPr indent="0" lvl="0" marL="0" rtl="0" algn="l">
              <a:lnSpc>
                <a:spcPct val="115000"/>
              </a:lnSpc>
              <a:spcBef>
                <a:spcPts val="1200"/>
              </a:spcBef>
              <a:spcAft>
                <a:spcPts val="0"/>
              </a:spcAft>
              <a:buNone/>
            </a:pPr>
            <a:r>
              <a:rPr b="1" lang="en-US" sz="2900">
                <a:solidFill>
                  <a:schemeClr val="dk1"/>
                </a:solidFill>
              </a:rPr>
              <a:t>Limited Features for Analysis:</a:t>
            </a:r>
            <a:endParaRPr b="1" sz="2900">
              <a:solidFill>
                <a:schemeClr val="dk1"/>
              </a:solidFill>
            </a:endParaRPr>
          </a:p>
          <a:p>
            <a:pPr indent="-412750" lvl="0" marL="457200" rtl="0" algn="l">
              <a:lnSpc>
                <a:spcPct val="115000"/>
              </a:lnSpc>
              <a:spcBef>
                <a:spcPts val="1200"/>
              </a:spcBef>
              <a:spcAft>
                <a:spcPts val="0"/>
              </a:spcAft>
              <a:buClr>
                <a:schemeClr val="dk1"/>
              </a:buClr>
              <a:buSzPts val="2900"/>
              <a:buChar char="●"/>
            </a:pPr>
            <a:r>
              <a:rPr lang="en-US" sz="2900">
                <a:solidFill>
                  <a:schemeClr val="dk1"/>
                </a:solidFill>
              </a:rPr>
              <a:t>Currently focusing on molecular descriptors, which may not fully capture the underlying phenomena in drug-drug interactions.</a:t>
            </a:r>
            <a:endParaRPr sz="2900">
              <a:solidFill>
                <a:schemeClr val="dk1"/>
              </a:solidFill>
            </a:endParaRPr>
          </a:p>
          <a:p>
            <a:pPr indent="-412750" lvl="0" marL="457200" rtl="0" algn="l">
              <a:lnSpc>
                <a:spcPct val="115000"/>
              </a:lnSpc>
              <a:spcBef>
                <a:spcPts val="0"/>
              </a:spcBef>
              <a:spcAft>
                <a:spcPts val="0"/>
              </a:spcAft>
              <a:buClr>
                <a:schemeClr val="dk1"/>
              </a:buClr>
              <a:buSzPts val="2900"/>
              <a:buChar char="●"/>
            </a:pPr>
            <a:r>
              <a:rPr lang="en-US" sz="2900">
                <a:solidFill>
                  <a:schemeClr val="dk1"/>
                </a:solidFill>
              </a:rPr>
              <a:t>Additional features or domain-specific data may be needed for better predictive accuracy.</a:t>
            </a:r>
            <a:endParaRPr b="1" sz="43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1D4E1"/>
        </a:solidFill>
      </p:bgPr>
    </p:bg>
    <p:spTree>
      <p:nvGrpSpPr>
        <p:cNvPr id="194" name="Shape 194"/>
        <p:cNvGrpSpPr/>
        <p:nvPr/>
      </p:nvGrpSpPr>
      <p:grpSpPr>
        <a:xfrm>
          <a:off x="0" y="0"/>
          <a:ext cx="0" cy="0"/>
          <a:chOff x="0" y="0"/>
          <a:chExt cx="0" cy="0"/>
        </a:xfrm>
      </p:grpSpPr>
      <p:pic>
        <p:nvPicPr>
          <p:cNvPr id="195" name="Google Shape;195;g31c365ece61_0_15"/>
          <p:cNvPicPr preferRelativeResize="0"/>
          <p:nvPr/>
        </p:nvPicPr>
        <p:blipFill>
          <a:blip r:embed="rId3">
            <a:alphaModFix/>
          </a:blip>
          <a:stretch>
            <a:fillRect/>
          </a:stretch>
        </p:blipFill>
        <p:spPr>
          <a:xfrm>
            <a:off x="2547978" y="1118475"/>
            <a:ext cx="13192047" cy="8875875"/>
          </a:xfrm>
          <a:prstGeom prst="rect">
            <a:avLst/>
          </a:prstGeom>
          <a:noFill/>
          <a:ln>
            <a:noFill/>
          </a:ln>
        </p:spPr>
      </p:pic>
      <p:grpSp>
        <p:nvGrpSpPr>
          <p:cNvPr id="196" name="Google Shape;196;g31c365ece61_0_15"/>
          <p:cNvGrpSpPr/>
          <p:nvPr/>
        </p:nvGrpSpPr>
        <p:grpSpPr>
          <a:xfrm>
            <a:off x="2548150" y="159200"/>
            <a:ext cx="13192232" cy="959283"/>
            <a:chOff x="0" y="0"/>
            <a:chExt cx="4274726" cy="482100"/>
          </a:xfrm>
        </p:grpSpPr>
        <p:sp>
          <p:nvSpPr>
            <p:cNvPr id="197" name="Google Shape;197;g31c365ece61_0_15"/>
            <p:cNvSpPr/>
            <p:nvPr/>
          </p:nvSpPr>
          <p:spPr>
            <a:xfrm>
              <a:off x="0" y="0"/>
              <a:ext cx="4274726" cy="482034"/>
            </a:xfrm>
            <a:custGeom>
              <a:rect b="b" l="l" r="r" t="t"/>
              <a:pathLst>
                <a:path extrusionOk="0" h="482034" w="4274726">
                  <a:moveTo>
                    <a:pt x="0" y="0"/>
                  </a:moveTo>
                  <a:lnTo>
                    <a:pt x="4274726" y="0"/>
                  </a:lnTo>
                  <a:lnTo>
                    <a:pt x="4274726" y="482034"/>
                  </a:lnTo>
                  <a:lnTo>
                    <a:pt x="0" y="482034"/>
                  </a:lnTo>
                  <a:close/>
                </a:path>
              </a:pathLst>
            </a:custGeom>
            <a:solidFill>
              <a:srgbClr val="F4956F"/>
            </a:solidFill>
            <a:ln>
              <a:noFill/>
            </a:ln>
          </p:spPr>
        </p:sp>
        <p:sp>
          <p:nvSpPr>
            <p:cNvPr id="198" name="Google Shape;198;g31c365ece61_0_15"/>
            <p:cNvSpPr txBox="1"/>
            <p:nvPr/>
          </p:nvSpPr>
          <p:spPr>
            <a:xfrm>
              <a:off x="5" y="0"/>
              <a:ext cx="4274700" cy="4821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rPr lang="en-US" sz="3000">
                  <a:solidFill>
                    <a:schemeClr val="lt1"/>
                  </a:solidFill>
                  <a:latin typeface="Calibri"/>
                  <a:ea typeface="Calibri"/>
                  <a:cs typeface="Calibri"/>
                  <a:sym typeface="Calibri"/>
                </a:rPr>
                <a:t>There are many unique CID values per drug name, this can bias the training process</a:t>
              </a:r>
              <a:endParaRPr b="0" i="0" sz="2900" u="none" cap="none" strike="noStrike">
                <a:solidFill>
                  <a:schemeClr val="lt1"/>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1D4E1"/>
        </a:solidFill>
      </p:bgPr>
    </p:bg>
    <p:spTree>
      <p:nvGrpSpPr>
        <p:cNvPr id="202" name="Shape 202"/>
        <p:cNvGrpSpPr/>
        <p:nvPr/>
      </p:nvGrpSpPr>
      <p:grpSpPr>
        <a:xfrm>
          <a:off x="0" y="0"/>
          <a:ext cx="0" cy="0"/>
          <a:chOff x="0" y="0"/>
          <a:chExt cx="0" cy="0"/>
        </a:xfrm>
      </p:grpSpPr>
      <p:grpSp>
        <p:nvGrpSpPr>
          <p:cNvPr id="203" name="Google Shape;203;g31c365ece61_0_32"/>
          <p:cNvGrpSpPr/>
          <p:nvPr/>
        </p:nvGrpSpPr>
        <p:grpSpPr>
          <a:xfrm>
            <a:off x="2028024" y="159200"/>
            <a:ext cx="14231820" cy="959283"/>
            <a:chOff x="-621047" y="0"/>
            <a:chExt cx="4674600" cy="482100"/>
          </a:xfrm>
        </p:grpSpPr>
        <p:sp>
          <p:nvSpPr>
            <p:cNvPr id="204" name="Google Shape;204;g31c365ece61_0_32"/>
            <p:cNvSpPr/>
            <p:nvPr/>
          </p:nvSpPr>
          <p:spPr>
            <a:xfrm>
              <a:off x="-621047" y="25"/>
              <a:ext cx="4670138" cy="482034"/>
            </a:xfrm>
            <a:custGeom>
              <a:rect b="b" l="l" r="r" t="t"/>
              <a:pathLst>
                <a:path extrusionOk="0" h="482034" w="4274726">
                  <a:moveTo>
                    <a:pt x="0" y="0"/>
                  </a:moveTo>
                  <a:lnTo>
                    <a:pt x="4274726" y="0"/>
                  </a:lnTo>
                  <a:lnTo>
                    <a:pt x="4274726" y="482034"/>
                  </a:lnTo>
                  <a:lnTo>
                    <a:pt x="0" y="482034"/>
                  </a:lnTo>
                  <a:close/>
                </a:path>
              </a:pathLst>
            </a:custGeom>
            <a:solidFill>
              <a:srgbClr val="F4956F"/>
            </a:solidFill>
            <a:ln>
              <a:noFill/>
            </a:ln>
          </p:spPr>
        </p:sp>
        <p:sp>
          <p:nvSpPr>
            <p:cNvPr id="205" name="Google Shape;205;g31c365ece61_0_32"/>
            <p:cNvSpPr txBox="1"/>
            <p:nvPr/>
          </p:nvSpPr>
          <p:spPr>
            <a:xfrm>
              <a:off x="-621047" y="0"/>
              <a:ext cx="4674600" cy="4821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rPr lang="en-US" sz="2700">
                  <a:solidFill>
                    <a:schemeClr val="lt1"/>
                  </a:solidFill>
                  <a:latin typeface="Calibri"/>
                  <a:ea typeface="Calibri"/>
                  <a:cs typeface="Calibri"/>
                  <a:sym typeface="Calibri"/>
                </a:rPr>
                <a:t>There is a class imbalance, having Level 1 ‘Minor’ Interaction as the most represented value</a:t>
              </a:r>
              <a:endParaRPr b="0" i="0" sz="2700" u="none" cap="none" strike="noStrike">
                <a:solidFill>
                  <a:schemeClr val="lt1"/>
                </a:solidFill>
                <a:latin typeface="Calibri"/>
                <a:ea typeface="Calibri"/>
                <a:cs typeface="Calibri"/>
                <a:sym typeface="Calibri"/>
              </a:endParaRPr>
            </a:p>
          </p:txBody>
        </p:sp>
      </p:grpSp>
      <p:pic>
        <p:nvPicPr>
          <p:cNvPr id="206" name="Google Shape;206;g31c365ece61_0_32"/>
          <p:cNvPicPr preferRelativeResize="0"/>
          <p:nvPr/>
        </p:nvPicPr>
        <p:blipFill>
          <a:blip r:embed="rId3">
            <a:alphaModFix/>
          </a:blip>
          <a:stretch>
            <a:fillRect/>
          </a:stretch>
        </p:blipFill>
        <p:spPr>
          <a:xfrm>
            <a:off x="2028026" y="1118476"/>
            <a:ext cx="14231950" cy="84902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1D4E1"/>
        </a:solidFill>
      </p:bgPr>
    </p:bg>
    <p:spTree>
      <p:nvGrpSpPr>
        <p:cNvPr id="210" name="Shape 210"/>
        <p:cNvGrpSpPr/>
        <p:nvPr/>
      </p:nvGrpSpPr>
      <p:grpSpPr>
        <a:xfrm>
          <a:off x="0" y="0"/>
          <a:ext cx="0" cy="0"/>
          <a:chOff x="0" y="0"/>
          <a:chExt cx="0" cy="0"/>
        </a:xfrm>
      </p:grpSpPr>
      <p:grpSp>
        <p:nvGrpSpPr>
          <p:cNvPr id="211" name="Google Shape;211;g31c365ece61_0_40"/>
          <p:cNvGrpSpPr/>
          <p:nvPr/>
        </p:nvGrpSpPr>
        <p:grpSpPr>
          <a:xfrm>
            <a:off x="3736025" y="159200"/>
            <a:ext cx="11039760" cy="959283"/>
            <a:chOff x="0" y="0"/>
            <a:chExt cx="4275000" cy="482100"/>
          </a:xfrm>
        </p:grpSpPr>
        <p:sp>
          <p:nvSpPr>
            <p:cNvPr id="212" name="Google Shape;212;g31c365ece61_0_40"/>
            <p:cNvSpPr/>
            <p:nvPr/>
          </p:nvSpPr>
          <p:spPr>
            <a:xfrm>
              <a:off x="0" y="0"/>
              <a:ext cx="4274726" cy="482034"/>
            </a:xfrm>
            <a:custGeom>
              <a:rect b="b" l="l" r="r" t="t"/>
              <a:pathLst>
                <a:path extrusionOk="0" h="482034" w="4274726">
                  <a:moveTo>
                    <a:pt x="0" y="0"/>
                  </a:moveTo>
                  <a:lnTo>
                    <a:pt x="4274726" y="0"/>
                  </a:lnTo>
                  <a:lnTo>
                    <a:pt x="4274726" y="482034"/>
                  </a:lnTo>
                  <a:lnTo>
                    <a:pt x="0" y="482034"/>
                  </a:lnTo>
                  <a:close/>
                </a:path>
              </a:pathLst>
            </a:custGeom>
            <a:solidFill>
              <a:srgbClr val="F4956F"/>
            </a:solidFill>
            <a:ln>
              <a:noFill/>
            </a:ln>
          </p:spPr>
        </p:sp>
        <p:sp>
          <p:nvSpPr>
            <p:cNvPr id="213" name="Google Shape;213;g31c365ece61_0_40"/>
            <p:cNvSpPr txBox="1"/>
            <p:nvPr/>
          </p:nvSpPr>
          <p:spPr>
            <a:xfrm>
              <a:off x="0" y="0"/>
              <a:ext cx="4275000" cy="4821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rPr lang="en-US" sz="2600">
                  <a:solidFill>
                    <a:schemeClr val="lt1"/>
                  </a:solidFill>
                  <a:latin typeface="Calibri"/>
                  <a:ea typeface="Calibri"/>
                  <a:cs typeface="Calibri"/>
                  <a:sym typeface="Calibri"/>
                </a:rPr>
                <a:t>There is heavy multicollinearity between the columns for each drug, </a:t>
              </a:r>
              <a:br>
                <a:rPr lang="en-US" sz="2600">
                  <a:solidFill>
                    <a:schemeClr val="lt1"/>
                  </a:solidFill>
                  <a:latin typeface="Calibri"/>
                  <a:ea typeface="Calibri"/>
                  <a:cs typeface="Calibri"/>
                  <a:sym typeface="Calibri"/>
                </a:rPr>
              </a:br>
              <a:r>
                <a:rPr lang="en-US" sz="2600">
                  <a:solidFill>
                    <a:schemeClr val="lt1"/>
                  </a:solidFill>
                  <a:latin typeface="Calibri"/>
                  <a:ea typeface="Calibri"/>
                  <a:cs typeface="Calibri"/>
                  <a:sym typeface="Calibri"/>
                </a:rPr>
                <a:t>but not between drugs</a:t>
              </a:r>
              <a:endParaRPr b="0" i="0" sz="2600" u="none" cap="none" strike="noStrike">
                <a:solidFill>
                  <a:schemeClr val="lt1"/>
                </a:solidFill>
                <a:latin typeface="Calibri"/>
                <a:ea typeface="Calibri"/>
                <a:cs typeface="Calibri"/>
                <a:sym typeface="Calibri"/>
              </a:endParaRPr>
            </a:p>
          </p:txBody>
        </p:sp>
      </p:grpSp>
      <p:pic>
        <p:nvPicPr>
          <p:cNvPr id="214" name="Google Shape;214;g31c365ece61_0_40"/>
          <p:cNvPicPr preferRelativeResize="0"/>
          <p:nvPr/>
        </p:nvPicPr>
        <p:blipFill>
          <a:blip r:embed="rId3">
            <a:alphaModFix/>
          </a:blip>
          <a:stretch>
            <a:fillRect/>
          </a:stretch>
        </p:blipFill>
        <p:spPr>
          <a:xfrm>
            <a:off x="3735775" y="1118475"/>
            <a:ext cx="11039749" cy="88318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F1F4"/>
        </a:solidFill>
      </p:bgPr>
    </p:bg>
    <p:spTree>
      <p:nvGrpSpPr>
        <p:cNvPr id="218" name="Shape 218"/>
        <p:cNvGrpSpPr/>
        <p:nvPr/>
      </p:nvGrpSpPr>
      <p:grpSpPr>
        <a:xfrm>
          <a:off x="0" y="0"/>
          <a:ext cx="0" cy="0"/>
          <a:chOff x="0" y="0"/>
          <a:chExt cx="0" cy="0"/>
        </a:xfrm>
      </p:grpSpPr>
      <p:grpSp>
        <p:nvGrpSpPr>
          <p:cNvPr id="219" name="Google Shape;219;g31c365ece61_14_13"/>
          <p:cNvGrpSpPr/>
          <p:nvPr/>
        </p:nvGrpSpPr>
        <p:grpSpPr>
          <a:xfrm>
            <a:off x="0" y="0"/>
            <a:ext cx="18288118" cy="4234102"/>
            <a:chOff x="0" y="0"/>
            <a:chExt cx="4816592" cy="1115147"/>
          </a:xfrm>
        </p:grpSpPr>
        <p:sp>
          <p:nvSpPr>
            <p:cNvPr id="220" name="Google Shape;220;g31c365ece61_14_13"/>
            <p:cNvSpPr/>
            <p:nvPr/>
          </p:nvSpPr>
          <p:spPr>
            <a:xfrm>
              <a:off x="0" y="0"/>
              <a:ext cx="4816592" cy="1115147"/>
            </a:xfrm>
            <a:custGeom>
              <a:rect b="b" l="l" r="r" t="t"/>
              <a:pathLst>
                <a:path extrusionOk="0" h="1115147" w="4816592">
                  <a:moveTo>
                    <a:pt x="0" y="0"/>
                  </a:moveTo>
                  <a:lnTo>
                    <a:pt x="4816592" y="0"/>
                  </a:lnTo>
                  <a:lnTo>
                    <a:pt x="4816592" y="1115147"/>
                  </a:lnTo>
                  <a:lnTo>
                    <a:pt x="0" y="1115147"/>
                  </a:lnTo>
                  <a:close/>
                </a:path>
              </a:pathLst>
            </a:custGeom>
            <a:solidFill>
              <a:srgbClr val="A1D4E1"/>
            </a:solidFill>
            <a:ln>
              <a:noFill/>
            </a:ln>
          </p:spPr>
        </p:sp>
        <p:sp>
          <p:nvSpPr>
            <p:cNvPr id="221" name="Google Shape;221;g31c365ece61_14_13"/>
            <p:cNvSpPr txBox="1"/>
            <p:nvPr/>
          </p:nvSpPr>
          <p:spPr>
            <a:xfrm>
              <a:off x="0" y="0"/>
              <a:ext cx="4816500" cy="11151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2" name="Google Shape;222;g31c365ece61_14_13"/>
          <p:cNvSpPr txBox="1"/>
          <p:nvPr/>
        </p:nvSpPr>
        <p:spPr>
          <a:xfrm>
            <a:off x="1143000" y="872500"/>
            <a:ext cx="16417500" cy="11853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lang="en-US" sz="7700">
                <a:solidFill>
                  <a:srgbClr val="294069"/>
                </a:solidFill>
              </a:rPr>
              <a:t>XGBoost with Weights</a:t>
            </a:r>
            <a:endParaRPr/>
          </a:p>
        </p:txBody>
      </p:sp>
      <p:pic>
        <p:nvPicPr>
          <p:cNvPr id="223" name="Google Shape;223;g31c365ece61_14_13"/>
          <p:cNvPicPr preferRelativeResize="0"/>
          <p:nvPr/>
        </p:nvPicPr>
        <p:blipFill>
          <a:blip r:embed="rId3">
            <a:alphaModFix/>
          </a:blip>
          <a:stretch>
            <a:fillRect/>
          </a:stretch>
        </p:blipFill>
        <p:spPr>
          <a:xfrm>
            <a:off x="0" y="4234100"/>
            <a:ext cx="8111725" cy="6083800"/>
          </a:xfrm>
          <a:prstGeom prst="rect">
            <a:avLst/>
          </a:prstGeom>
          <a:noFill/>
          <a:ln>
            <a:noFill/>
          </a:ln>
        </p:spPr>
      </p:pic>
      <p:pic>
        <p:nvPicPr>
          <p:cNvPr id="224" name="Google Shape;224;g31c365ece61_14_13"/>
          <p:cNvPicPr preferRelativeResize="0"/>
          <p:nvPr/>
        </p:nvPicPr>
        <p:blipFill>
          <a:blip r:embed="rId4">
            <a:alphaModFix/>
          </a:blip>
          <a:stretch>
            <a:fillRect/>
          </a:stretch>
        </p:blipFill>
        <p:spPr>
          <a:xfrm>
            <a:off x="8148342" y="4234100"/>
            <a:ext cx="10139658" cy="60838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F1F4"/>
        </a:solidFill>
      </p:bgPr>
    </p:bg>
    <p:spTree>
      <p:nvGrpSpPr>
        <p:cNvPr id="228" name="Shape 228"/>
        <p:cNvGrpSpPr/>
        <p:nvPr/>
      </p:nvGrpSpPr>
      <p:grpSpPr>
        <a:xfrm>
          <a:off x="0" y="0"/>
          <a:ext cx="0" cy="0"/>
          <a:chOff x="0" y="0"/>
          <a:chExt cx="0" cy="0"/>
        </a:xfrm>
      </p:grpSpPr>
      <p:grpSp>
        <p:nvGrpSpPr>
          <p:cNvPr id="229" name="Google Shape;229;g31c365ece61_141_2"/>
          <p:cNvGrpSpPr/>
          <p:nvPr/>
        </p:nvGrpSpPr>
        <p:grpSpPr>
          <a:xfrm>
            <a:off x="0" y="0"/>
            <a:ext cx="18288118" cy="4234102"/>
            <a:chOff x="0" y="0"/>
            <a:chExt cx="4816592" cy="1115147"/>
          </a:xfrm>
        </p:grpSpPr>
        <p:sp>
          <p:nvSpPr>
            <p:cNvPr id="230" name="Google Shape;230;g31c365ece61_141_2"/>
            <p:cNvSpPr/>
            <p:nvPr/>
          </p:nvSpPr>
          <p:spPr>
            <a:xfrm>
              <a:off x="0" y="0"/>
              <a:ext cx="4816592" cy="1115147"/>
            </a:xfrm>
            <a:custGeom>
              <a:rect b="b" l="l" r="r" t="t"/>
              <a:pathLst>
                <a:path extrusionOk="0" h="1115147" w="4816592">
                  <a:moveTo>
                    <a:pt x="0" y="0"/>
                  </a:moveTo>
                  <a:lnTo>
                    <a:pt x="4816592" y="0"/>
                  </a:lnTo>
                  <a:lnTo>
                    <a:pt x="4816592" y="1115147"/>
                  </a:lnTo>
                  <a:lnTo>
                    <a:pt x="0" y="1115147"/>
                  </a:lnTo>
                  <a:close/>
                </a:path>
              </a:pathLst>
            </a:custGeom>
            <a:solidFill>
              <a:srgbClr val="A1D4E1"/>
            </a:solidFill>
            <a:ln>
              <a:noFill/>
            </a:ln>
          </p:spPr>
        </p:sp>
        <p:sp>
          <p:nvSpPr>
            <p:cNvPr id="231" name="Google Shape;231;g31c365ece61_141_2"/>
            <p:cNvSpPr txBox="1"/>
            <p:nvPr/>
          </p:nvSpPr>
          <p:spPr>
            <a:xfrm>
              <a:off x="0" y="0"/>
              <a:ext cx="4816500" cy="11151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2" name="Google Shape;232;g31c365ece61_141_2"/>
          <p:cNvSpPr txBox="1"/>
          <p:nvPr/>
        </p:nvSpPr>
        <p:spPr>
          <a:xfrm>
            <a:off x="1143000" y="872500"/>
            <a:ext cx="16417500" cy="11853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lang="en-US" sz="7700">
                <a:solidFill>
                  <a:srgbClr val="294069"/>
                </a:solidFill>
              </a:rPr>
              <a:t>XGBoost without Weights</a:t>
            </a:r>
            <a:endParaRPr/>
          </a:p>
        </p:txBody>
      </p:sp>
      <p:pic>
        <p:nvPicPr>
          <p:cNvPr id="233" name="Google Shape;233;g31c365ece61_141_2"/>
          <p:cNvPicPr preferRelativeResize="0"/>
          <p:nvPr/>
        </p:nvPicPr>
        <p:blipFill>
          <a:blip r:embed="rId3">
            <a:alphaModFix/>
          </a:blip>
          <a:stretch>
            <a:fillRect/>
          </a:stretch>
        </p:blipFill>
        <p:spPr>
          <a:xfrm>
            <a:off x="0" y="4234100"/>
            <a:ext cx="8106428" cy="6083801"/>
          </a:xfrm>
          <a:prstGeom prst="rect">
            <a:avLst/>
          </a:prstGeom>
          <a:noFill/>
          <a:ln>
            <a:noFill/>
          </a:ln>
        </p:spPr>
      </p:pic>
      <p:pic>
        <p:nvPicPr>
          <p:cNvPr id="234" name="Google Shape;234;g31c365ece61_141_2"/>
          <p:cNvPicPr preferRelativeResize="0"/>
          <p:nvPr/>
        </p:nvPicPr>
        <p:blipFill>
          <a:blip r:embed="rId4">
            <a:alphaModFix/>
          </a:blip>
          <a:stretch>
            <a:fillRect/>
          </a:stretch>
        </p:blipFill>
        <p:spPr>
          <a:xfrm>
            <a:off x="8222776" y="4234100"/>
            <a:ext cx="10065349" cy="60838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F1F4"/>
        </a:solidFill>
      </p:bgPr>
    </p:bg>
    <p:spTree>
      <p:nvGrpSpPr>
        <p:cNvPr id="238" name="Shape 238"/>
        <p:cNvGrpSpPr/>
        <p:nvPr/>
      </p:nvGrpSpPr>
      <p:grpSpPr>
        <a:xfrm>
          <a:off x="0" y="0"/>
          <a:ext cx="0" cy="0"/>
          <a:chOff x="0" y="0"/>
          <a:chExt cx="0" cy="0"/>
        </a:xfrm>
      </p:grpSpPr>
      <p:grpSp>
        <p:nvGrpSpPr>
          <p:cNvPr id="239" name="Google Shape;239;g1222b1bb31b9c078_2"/>
          <p:cNvGrpSpPr/>
          <p:nvPr/>
        </p:nvGrpSpPr>
        <p:grpSpPr>
          <a:xfrm>
            <a:off x="0" y="0"/>
            <a:ext cx="18288118" cy="4234102"/>
            <a:chOff x="0" y="0"/>
            <a:chExt cx="4816592" cy="1115147"/>
          </a:xfrm>
        </p:grpSpPr>
        <p:sp>
          <p:nvSpPr>
            <p:cNvPr id="240" name="Google Shape;240;g1222b1bb31b9c078_2"/>
            <p:cNvSpPr/>
            <p:nvPr/>
          </p:nvSpPr>
          <p:spPr>
            <a:xfrm>
              <a:off x="0" y="0"/>
              <a:ext cx="4816592" cy="1115147"/>
            </a:xfrm>
            <a:custGeom>
              <a:rect b="b" l="l" r="r" t="t"/>
              <a:pathLst>
                <a:path extrusionOk="0" h="1115147" w="4816592">
                  <a:moveTo>
                    <a:pt x="0" y="0"/>
                  </a:moveTo>
                  <a:lnTo>
                    <a:pt x="4816592" y="0"/>
                  </a:lnTo>
                  <a:lnTo>
                    <a:pt x="4816592" y="1115147"/>
                  </a:lnTo>
                  <a:lnTo>
                    <a:pt x="0" y="1115147"/>
                  </a:lnTo>
                  <a:close/>
                </a:path>
              </a:pathLst>
            </a:custGeom>
            <a:solidFill>
              <a:srgbClr val="A1D4E1"/>
            </a:solidFill>
            <a:ln>
              <a:noFill/>
            </a:ln>
          </p:spPr>
        </p:sp>
        <p:sp>
          <p:nvSpPr>
            <p:cNvPr id="241" name="Google Shape;241;g1222b1bb31b9c078_2"/>
            <p:cNvSpPr txBox="1"/>
            <p:nvPr/>
          </p:nvSpPr>
          <p:spPr>
            <a:xfrm>
              <a:off x="0" y="0"/>
              <a:ext cx="4816500" cy="11151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2" name="Google Shape;242;g1222b1bb31b9c078_2"/>
          <p:cNvSpPr txBox="1"/>
          <p:nvPr/>
        </p:nvSpPr>
        <p:spPr>
          <a:xfrm>
            <a:off x="1143000" y="872500"/>
            <a:ext cx="16417500" cy="12987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lang="en-US" sz="7700">
                <a:solidFill>
                  <a:srgbClr val="294069"/>
                </a:solidFill>
              </a:rPr>
              <a:t>Random Forest</a:t>
            </a:r>
            <a:endParaRPr/>
          </a:p>
        </p:txBody>
      </p:sp>
      <p:pic>
        <p:nvPicPr>
          <p:cNvPr id="243" name="Google Shape;243;g1222b1bb31b9c078_2"/>
          <p:cNvPicPr preferRelativeResize="0"/>
          <p:nvPr/>
        </p:nvPicPr>
        <p:blipFill>
          <a:blip r:embed="rId3">
            <a:alphaModFix/>
          </a:blip>
          <a:stretch>
            <a:fillRect/>
          </a:stretch>
        </p:blipFill>
        <p:spPr>
          <a:xfrm>
            <a:off x="0" y="4234100"/>
            <a:ext cx="8106433" cy="6083801"/>
          </a:xfrm>
          <a:prstGeom prst="rect">
            <a:avLst/>
          </a:prstGeom>
          <a:noFill/>
          <a:ln>
            <a:noFill/>
          </a:ln>
        </p:spPr>
      </p:pic>
      <p:pic>
        <p:nvPicPr>
          <p:cNvPr id="244" name="Google Shape;244;g1222b1bb31b9c078_2"/>
          <p:cNvPicPr preferRelativeResize="0"/>
          <p:nvPr/>
        </p:nvPicPr>
        <p:blipFill>
          <a:blip r:embed="rId4">
            <a:alphaModFix/>
          </a:blip>
          <a:stretch>
            <a:fillRect/>
          </a:stretch>
        </p:blipFill>
        <p:spPr>
          <a:xfrm>
            <a:off x="8174890" y="4234100"/>
            <a:ext cx="10113108" cy="60838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F1F4"/>
        </a:solidFill>
      </p:bgPr>
    </p:bg>
    <p:spTree>
      <p:nvGrpSpPr>
        <p:cNvPr id="248" name="Shape 248"/>
        <p:cNvGrpSpPr/>
        <p:nvPr/>
      </p:nvGrpSpPr>
      <p:grpSpPr>
        <a:xfrm>
          <a:off x="0" y="0"/>
          <a:ext cx="0" cy="0"/>
          <a:chOff x="0" y="0"/>
          <a:chExt cx="0" cy="0"/>
        </a:xfrm>
      </p:grpSpPr>
      <p:grpSp>
        <p:nvGrpSpPr>
          <p:cNvPr id="249" name="Google Shape;249;g31c365ece61_144_3"/>
          <p:cNvGrpSpPr/>
          <p:nvPr/>
        </p:nvGrpSpPr>
        <p:grpSpPr>
          <a:xfrm>
            <a:off x="0" y="0"/>
            <a:ext cx="18288118" cy="2576770"/>
            <a:chOff x="0" y="0"/>
            <a:chExt cx="4816592" cy="1115147"/>
          </a:xfrm>
        </p:grpSpPr>
        <p:sp>
          <p:nvSpPr>
            <p:cNvPr id="250" name="Google Shape;250;g31c365ece61_144_3"/>
            <p:cNvSpPr/>
            <p:nvPr/>
          </p:nvSpPr>
          <p:spPr>
            <a:xfrm>
              <a:off x="0" y="0"/>
              <a:ext cx="4816592" cy="1115147"/>
            </a:xfrm>
            <a:custGeom>
              <a:rect b="b" l="l" r="r" t="t"/>
              <a:pathLst>
                <a:path extrusionOk="0" h="1115147" w="4816592">
                  <a:moveTo>
                    <a:pt x="0" y="0"/>
                  </a:moveTo>
                  <a:lnTo>
                    <a:pt x="4816592" y="0"/>
                  </a:lnTo>
                  <a:lnTo>
                    <a:pt x="4816592" y="1115147"/>
                  </a:lnTo>
                  <a:lnTo>
                    <a:pt x="0" y="1115147"/>
                  </a:lnTo>
                  <a:close/>
                </a:path>
              </a:pathLst>
            </a:custGeom>
            <a:solidFill>
              <a:srgbClr val="A1D4E1"/>
            </a:solidFill>
            <a:ln>
              <a:noFill/>
            </a:ln>
          </p:spPr>
        </p:sp>
        <p:sp>
          <p:nvSpPr>
            <p:cNvPr id="251" name="Google Shape;251;g31c365ece61_144_3"/>
            <p:cNvSpPr txBox="1"/>
            <p:nvPr/>
          </p:nvSpPr>
          <p:spPr>
            <a:xfrm>
              <a:off x="0" y="0"/>
              <a:ext cx="4816500" cy="11151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2" name="Google Shape;252;g31c365ece61_144_3"/>
          <p:cNvSpPr txBox="1"/>
          <p:nvPr/>
        </p:nvSpPr>
        <p:spPr>
          <a:xfrm>
            <a:off x="1143000" y="872500"/>
            <a:ext cx="16417500" cy="11853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lang="en-US" sz="7700">
                <a:solidFill>
                  <a:srgbClr val="294069"/>
                </a:solidFill>
              </a:rPr>
              <a:t>Random Forest W/O Duplicates</a:t>
            </a:r>
            <a:endParaRPr/>
          </a:p>
        </p:txBody>
      </p:sp>
      <p:pic>
        <p:nvPicPr>
          <p:cNvPr id="253" name="Google Shape;253;g31c365ece61_144_3"/>
          <p:cNvPicPr preferRelativeResize="0"/>
          <p:nvPr/>
        </p:nvPicPr>
        <p:blipFill>
          <a:blip r:embed="rId3">
            <a:alphaModFix/>
          </a:blip>
          <a:stretch>
            <a:fillRect/>
          </a:stretch>
        </p:blipFill>
        <p:spPr>
          <a:xfrm>
            <a:off x="152400" y="2576775"/>
            <a:ext cx="8903901" cy="7557824"/>
          </a:xfrm>
          <a:prstGeom prst="rect">
            <a:avLst/>
          </a:prstGeom>
          <a:noFill/>
          <a:ln>
            <a:noFill/>
          </a:ln>
        </p:spPr>
      </p:pic>
      <p:pic>
        <p:nvPicPr>
          <p:cNvPr id="254" name="Google Shape;254;g31c365ece61_144_3"/>
          <p:cNvPicPr preferRelativeResize="0"/>
          <p:nvPr/>
        </p:nvPicPr>
        <p:blipFill>
          <a:blip r:embed="rId4">
            <a:alphaModFix/>
          </a:blip>
          <a:stretch>
            <a:fillRect/>
          </a:stretch>
        </p:blipFill>
        <p:spPr>
          <a:xfrm>
            <a:off x="9149376" y="2576775"/>
            <a:ext cx="9138625" cy="74816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F1F4"/>
        </a:solidFill>
      </p:bgPr>
    </p:bg>
    <p:spTree>
      <p:nvGrpSpPr>
        <p:cNvPr id="258" name="Shape 258"/>
        <p:cNvGrpSpPr/>
        <p:nvPr/>
      </p:nvGrpSpPr>
      <p:grpSpPr>
        <a:xfrm>
          <a:off x="0" y="0"/>
          <a:ext cx="0" cy="0"/>
          <a:chOff x="0" y="0"/>
          <a:chExt cx="0" cy="0"/>
        </a:xfrm>
      </p:grpSpPr>
      <p:grpSp>
        <p:nvGrpSpPr>
          <p:cNvPr id="259" name="Google Shape;259;g31c365ece61_144_14"/>
          <p:cNvGrpSpPr/>
          <p:nvPr/>
        </p:nvGrpSpPr>
        <p:grpSpPr>
          <a:xfrm>
            <a:off x="0" y="0"/>
            <a:ext cx="18288118" cy="2698544"/>
            <a:chOff x="0" y="0"/>
            <a:chExt cx="4816592" cy="1115147"/>
          </a:xfrm>
        </p:grpSpPr>
        <p:sp>
          <p:nvSpPr>
            <p:cNvPr id="260" name="Google Shape;260;g31c365ece61_144_14"/>
            <p:cNvSpPr/>
            <p:nvPr/>
          </p:nvSpPr>
          <p:spPr>
            <a:xfrm>
              <a:off x="0" y="0"/>
              <a:ext cx="4816592" cy="1115147"/>
            </a:xfrm>
            <a:custGeom>
              <a:rect b="b" l="l" r="r" t="t"/>
              <a:pathLst>
                <a:path extrusionOk="0" h="1115147" w="4816592">
                  <a:moveTo>
                    <a:pt x="0" y="0"/>
                  </a:moveTo>
                  <a:lnTo>
                    <a:pt x="4816592" y="0"/>
                  </a:lnTo>
                  <a:lnTo>
                    <a:pt x="4816592" y="1115147"/>
                  </a:lnTo>
                  <a:lnTo>
                    <a:pt x="0" y="1115147"/>
                  </a:lnTo>
                  <a:close/>
                </a:path>
              </a:pathLst>
            </a:custGeom>
            <a:solidFill>
              <a:srgbClr val="A1D4E1"/>
            </a:solidFill>
            <a:ln>
              <a:noFill/>
            </a:ln>
          </p:spPr>
        </p:sp>
        <p:sp>
          <p:nvSpPr>
            <p:cNvPr id="261" name="Google Shape;261;g31c365ece61_144_14"/>
            <p:cNvSpPr txBox="1"/>
            <p:nvPr/>
          </p:nvSpPr>
          <p:spPr>
            <a:xfrm>
              <a:off x="0" y="0"/>
              <a:ext cx="4816500" cy="11151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2" name="Google Shape;262;g31c365ece61_144_14"/>
          <p:cNvSpPr txBox="1"/>
          <p:nvPr/>
        </p:nvSpPr>
        <p:spPr>
          <a:xfrm>
            <a:off x="1143000" y="872500"/>
            <a:ext cx="16417500" cy="11853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lang="en-US" sz="7700">
                <a:solidFill>
                  <a:srgbClr val="294069"/>
                </a:solidFill>
              </a:rPr>
              <a:t>XGBoost</a:t>
            </a:r>
            <a:r>
              <a:rPr lang="en-US" sz="7700">
                <a:solidFill>
                  <a:srgbClr val="294069"/>
                </a:solidFill>
              </a:rPr>
              <a:t> W/O Duplicates</a:t>
            </a:r>
            <a:endParaRPr/>
          </a:p>
        </p:txBody>
      </p:sp>
      <p:pic>
        <p:nvPicPr>
          <p:cNvPr id="263" name="Google Shape;263;g31c365ece61_144_14"/>
          <p:cNvPicPr preferRelativeResize="0"/>
          <p:nvPr/>
        </p:nvPicPr>
        <p:blipFill>
          <a:blip r:embed="rId3">
            <a:alphaModFix/>
          </a:blip>
          <a:stretch>
            <a:fillRect/>
          </a:stretch>
        </p:blipFill>
        <p:spPr>
          <a:xfrm>
            <a:off x="152400" y="2698550"/>
            <a:ext cx="8957776" cy="7436050"/>
          </a:xfrm>
          <a:prstGeom prst="rect">
            <a:avLst/>
          </a:prstGeom>
          <a:noFill/>
          <a:ln>
            <a:noFill/>
          </a:ln>
        </p:spPr>
      </p:pic>
      <p:pic>
        <p:nvPicPr>
          <p:cNvPr id="264" name="Google Shape;264;g31c365ece61_144_14"/>
          <p:cNvPicPr preferRelativeResize="0"/>
          <p:nvPr/>
        </p:nvPicPr>
        <p:blipFill>
          <a:blip r:embed="rId4">
            <a:alphaModFix/>
          </a:blip>
          <a:stretch>
            <a:fillRect/>
          </a:stretch>
        </p:blipFill>
        <p:spPr>
          <a:xfrm>
            <a:off x="9177825" y="2698550"/>
            <a:ext cx="8957776" cy="7240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F1F4"/>
        </a:solidFill>
      </p:bgPr>
    </p:bg>
    <p:spTree>
      <p:nvGrpSpPr>
        <p:cNvPr id="268" name="Shape 268"/>
        <p:cNvGrpSpPr/>
        <p:nvPr/>
      </p:nvGrpSpPr>
      <p:grpSpPr>
        <a:xfrm>
          <a:off x="0" y="0"/>
          <a:ext cx="0" cy="0"/>
          <a:chOff x="0" y="0"/>
          <a:chExt cx="0" cy="0"/>
        </a:xfrm>
      </p:grpSpPr>
      <p:grpSp>
        <p:nvGrpSpPr>
          <p:cNvPr id="269" name="Google Shape;269;g31c365ece61_144_38"/>
          <p:cNvGrpSpPr/>
          <p:nvPr/>
        </p:nvGrpSpPr>
        <p:grpSpPr>
          <a:xfrm>
            <a:off x="0" y="0"/>
            <a:ext cx="18288118" cy="2698544"/>
            <a:chOff x="0" y="0"/>
            <a:chExt cx="4816592" cy="1115147"/>
          </a:xfrm>
        </p:grpSpPr>
        <p:sp>
          <p:nvSpPr>
            <p:cNvPr id="270" name="Google Shape;270;g31c365ece61_144_38"/>
            <p:cNvSpPr/>
            <p:nvPr/>
          </p:nvSpPr>
          <p:spPr>
            <a:xfrm>
              <a:off x="0" y="0"/>
              <a:ext cx="4816592" cy="1115147"/>
            </a:xfrm>
            <a:custGeom>
              <a:rect b="b" l="l" r="r" t="t"/>
              <a:pathLst>
                <a:path extrusionOk="0" h="1115147" w="4816592">
                  <a:moveTo>
                    <a:pt x="0" y="0"/>
                  </a:moveTo>
                  <a:lnTo>
                    <a:pt x="4816592" y="0"/>
                  </a:lnTo>
                  <a:lnTo>
                    <a:pt x="4816592" y="1115147"/>
                  </a:lnTo>
                  <a:lnTo>
                    <a:pt x="0" y="1115147"/>
                  </a:lnTo>
                  <a:close/>
                </a:path>
              </a:pathLst>
            </a:custGeom>
            <a:solidFill>
              <a:srgbClr val="A1D4E1"/>
            </a:solidFill>
            <a:ln>
              <a:noFill/>
            </a:ln>
          </p:spPr>
        </p:sp>
        <p:sp>
          <p:nvSpPr>
            <p:cNvPr id="271" name="Google Shape;271;g31c365ece61_144_38"/>
            <p:cNvSpPr txBox="1"/>
            <p:nvPr/>
          </p:nvSpPr>
          <p:spPr>
            <a:xfrm>
              <a:off x="0" y="0"/>
              <a:ext cx="4816500" cy="11151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2" name="Google Shape;272;g31c365ece61_144_38"/>
          <p:cNvSpPr txBox="1"/>
          <p:nvPr/>
        </p:nvSpPr>
        <p:spPr>
          <a:xfrm>
            <a:off x="1143000" y="872500"/>
            <a:ext cx="16417500" cy="11853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lang="en-US" sz="7700">
                <a:solidFill>
                  <a:srgbClr val="294069"/>
                </a:solidFill>
              </a:rPr>
              <a:t>LightGBM</a:t>
            </a:r>
            <a:r>
              <a:rPr lang="en-US" sz="7700">
                <a:solidFill>
                  <a:srgbClr val="294069"/>
                </a:solidFill>
              </a:rPr>
              <a:t> W/O Duplicates</a:t>
            </a:r>
            <a:endParaRPr/>
          </a:p>
        </p:txBody>
      </p:sp>
      <p:pic>
        <p:nvPicPr>
          <p:cNvPr id="273" name="Google Shape;273;g31c365ece61_144_38"/>
          <p:cNvPicPr preferRelativeResize="0"/>
          <p:nvPr/>
        </p:nvPicPr>
        <p:blipFill>
          <a:blip r:embed="rId3">
            <a:alphaModFix/>
          </a:blip>
          <a:stretch>
            <a:fillRect/>
          </a:stretch>
        </p:blipFill>
        <p:spPr>
          <a:xfrm>
            <a:off x="0" y="2698550"/>
            <a:ext cx="8501475" cy="7588449"/>
          </a:xfrm>
          <a:prstGeom prst="rect">
            <a:avLst/>
          </a:prstGeom>
          <a:noFill/>
          <a:ln>
            <a:noFill/>
          </a:ln>
        </p:spPr>
      </p:pic>
      <p:pic>
        <p:nvPicPr>
          <p:cNvPr id="274" name="Google Shape;274;g31c365ece61_144_38"/>
          <p:cNvPicPr preferRelativeResize="0"/>
          <p:nvPr/>
        </p:nvPicPr>
        <p:blipFill>
          <a:blip r:embed="rId4">
            <a:alphaModFix/>
          </a:blip>
          <a:stretch>
            <a:fillRect/>
          </a:stretch>
        </p:blipFill>
        <p:spPr>
          <a:xfrm>
            <a:off x="8623225" y="2698550"/>
            <a:ext cx="9664775" cy="7588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F1F4"/>
        </a:solidFill>
      </p:bgPr>
    </p:bg>
    <p:spTree>
      <p:nvGrpSpPr>
        <p:cNvPr id="278" name="Shape 278"/>
        <p:cNvGrpSpPr/>
        <p:nvPr/>
      </p:nvGrpSpPr>
      <p:grpSpPr>
        <a:xfrm>
          <a:off x="0" y="0"/>
          <a:ext cx="0" cy="0"/>
          <a:chOff x="0" y="0"/>
          <a:chExt cx="0" cy="0"/>
        </a:xfrm>
      </p:grpSpPr>
      <p:grpSp>
        <p:nvGrpSpPr>
          <p:cNvPr id="279" name="Google Shape;279;g31c365ece61_18_9"/>
          <p:cNvGrpSpPr/>
          <p:nvPr/>
        </p:nvGrpSpPr>
        <p:grpSpPr>
          <a:xfrm>
            <a:off x="0" y="0"/>
            <a:ext cx="18288118" cy="2576770"/>
            <a:chOff x="0" y="0"/>
            <a:chExt cx="4816592" cy="1115147"/>
          </a:xfrm>
        </p:grpSpPr>
        <p:sp>
          <p:nvSpPr>
            <p:cNvPr id="280" name="Google Shape;280;g31c365ece61_18_9"/>
            <p:cNvSpPr/>
            <p:nvPr/>
          </p:nvSpPr>
          <p:spPr>
            <a:xfrm>
              <a:off x="0" y="0"/>
              <a:ext cx="4816592" cy="1115147"/>
            </a:xfrm>
            <a:custGeom>
              <a:rect b="b" l="l" r="r" t="t"/>
              <a:pathLst>
                <a:path extrusionOk="0" h="1115147" w="4816592">
                  <a:moveTo>
                    <a:pt x="0" y="0"/>
                  </a:moveTo>
                  <a:lnTo>
                    <a:pt x="4816592" y="0"/>
                  </a:lnTo>
                  <a:lnTo>
                    <a:pt x="4816592" y="1115147"/>
                  </a:lnTo>
                  <a:lnTo>
                    <a:pt x="0" y="1115147"/>
                  </a:lnTo>
                  <a:close/>
                </a:path>
              </a:pathLst>
            </a:custGeom>
            <a:solidFill>
              <a:srgbClr val="A1D4E1"/>
            </a:solidFill>
            <a:ln>
              <a:noFill/>
            </a:ln>
          </p:spPr>
        </p:sp>
        <p:sp>
          <p:nvSpPr>
            <p:cNvPr id="281" name="Google Shape;281;g31c365ece61_18_9"/>
            <p:cNvSpPr txBox="1"/>
            <p:nvPr/>
          </p:nvSpPr>
          <p:spPr>
            <a:xfrm>
              <a:off x="0" y="0"/>
              <a:ext cx="4816500" cy="11151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82" name="Google Shape;282;g31c365ece61_18_9"/>
          <p:cNvSpPr txBox="1"/>
          <p:nvPr/>
        </p:nvSpPr>
        <p:spPr>
          <a:xfrm>
            <a:off x="1143000" y="872500"/>
            <a:ext cx="16417500" cy="11853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lang="en-US" sz="7700">
                <a:solidFill>
                  <a:srgbClr val="294069"/>
                </a:solidFill>
              </a:rPr>
              <a:t>Random Forest - Class Manipulation</a:t>
            </a:r>
            <a:endParaRPr/>
          </a:p>
        </p:txBody>
      </p:sp>
      <p:pic>
        <p:nvPicPr>
          <p:cNvPr id="283" name="Google Shape;283;g31c365ece61_18_9"/>
          <p:cNvPicPr preferRelativeResize="0"/>
          <p:nvPr/>
        </p:nvPicPr>
        <p:blipFill>
          <a:blip r:embed="rId3">
            <a:alphaModFix/>
          </a:blip>
          <a:stretch>
            <a:fillRect/>
          </a:stretch>
        </p:blipFill>
        <p:spPr>
          <a:xfrm>
            <a:off x="102050" y="2926813"/>
            <a:ext cx="8939900" cy="6781550"/>
          </a:xfrm>
          <a:prstGeom prst="rect">
            <a:avLst/>
          </a:prstGeom>
          <a:noFill/>
          <a:ln>
            <a:noFill/>
          </a:ln>
        </p:spPr>
      </p:pic>
      <p:pic>
        <p:nvPicPr>
          <p:cNvPr id="284" name="Google Shape;284;g31c365ece61_18_9"/>
          <p:cNvPicPr preferRelativeResize="0"/>
          <p:nvPr/>
        </p:nvPicPr>
        <p:blipFill>
          <a:blip r:embed="rId4">
            <a:alphaModFix/>
          </a:blip>
          <a:stretch>
            <a:fillRect/>
          </a:stretch>
        </p:blipFill>
        <p:spPr>
          <a:xfrm>
            <a:off x="9239450" y="2926825"/>
            <a:ext cx="8790477" cy="67815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F1F4"/>
        </a:solidFill>
      </p:bgPr>
    </p:bg>
    <p:spTree>
      <p:nvGrpSpPr>
        <p:cNvPr id="288" name="Shape 288"/>
        <p:cNvGrpSpPr/>
        <p:nvPr/>
      </p:nvGrpSpPr>
      <p:grpSpPr>
        <a:xfrm>
          <a:off x="0" y="0"/>
          <a:ext cx="0" cy="0"/>
          <a:chOff x="0" y="0"/>
          <a:chExt cx="0" cy="0"/>
        </a:xfrm>
      </p:grpSpPr>
      <p:grpSp>
        <p:nvGrpSpPr>
          <p:cNvPr id="289" name="Google Shape;289;g31c365ece61_18_27"/>
          <p:cNvGrpSpPr/>
          <p:nvPr/>
        </p:nvGrpSpPr>
        <p:grpSpPr>
          <a:xfrm>
            <a:off x="0" y="0"/>
            <a:ext cx="18288118" cy="2698544"/>
            <a:chOff x="0" y="0"/>
            <a:chExt cx="4816592" cy="1115147"/>
          </a:xfrm>
        </p:grpSpPr>
        <p:sp>
          <p:nvSpPr>
            <p:cNvPr id="290" name="Google Shape;290;g31c365ece61_18_27"/>
            <p:cNvSpPr/>
            <p:nvPr/>
          </p:nvSpPr>
          <p:spPr>
            <a:xfrm>
              <a:off x="0" y="0"/>
              <a:ext cx="4816592" cy="1115147"/>
            </a:xfrm>
            <a:custGeom>
              <a:rect b="b" l="l" r="r" t="t"/>
              <a:pathLst>
                <a:path extrusionOk="0" h="1115147" w="4816592">
                  <a:moveTo>
                    <a:pt x="0" y="0"/>
                  </a:moveTo>
                  <a:lnTo>
                    <a:pt x="4816592" y="0"/>
                  </a:lnTo>
                  <a:lnTo>
                    <a:pt x="4816592" y="1115147"/>
                  </a:lnTo>
                  <a:lnTo>
                    <a:pt x="0" y="1115147"/>
                  </a:lnTo>
                  <a:close/>
                </a:path>
              </a:pathLst>
            </a:custGeom>
            <a:solidFill>
              <a:srgbClr val="A1D4E1"/>
            </a:solidFill>
            <a:ln>
              <a:noFill/>
            </a:ln>
          </p:spPr>
        </p:sp>
        <p:sp>
          <p:nvSpPr>
            <p:cNvPr id="291" name="Google Shape;291;g31c365ece61_18_27"/>
            <p:cNvSpPr txBox="1"/>
            <p:nvPr/>
          </p:nvSpPr>
          <p:spPr>
            <a:xfrm>
              <a:off x="0" y="0"/>
              <a:ext cx="4816500" cy="11151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2" name="Google Shape;292;g31c365ece61_18_27"/>
          <p:cNvSpPr txBox="1"/>
          <p:nvPr/>
        </p:nvSpPr>
        <p:spPr>
          <a:xfrm>
            <a:off x="1143000" y="872500"/>
            <a:ext cx="16417500" cy="11853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lang="en-US" sz="7700">
                <a:solidFill>
                  <a:srgbClr val="294069"/>
                </a:solidFill>
              </a:rPr>
              <a:t>XGBoost - Class Manipulation</a:t>
            </a:r>
            <a:endParaRPr/>
          </a:p>
        </p:txBody>
      </p:sp>
      <p:pic>
        <p:nvPicPr>
          <p:cNvPr id="293" name="Google Shape;293;g31c365ece61_18_27"/>
          <p:cNvPicPr preferRelativeResize="0"/>
          <p:nvPr/>
        </p:nvPicPr>
        <p:blipFill>
          <a:blip r:embed="rId3">
            <a:alphaModFix/>
          </a:blip>
          <a:stretch>
            <a:fillRect/>
          </a:stretch>
        </p:blipFill>
        <p:spPr>
          <a:xfrm>
            <a:off x="112800" y="3114537"/>
            <a:ext cx="8386202" cy="6433650"/>
          </a:xfrm>
          <a:prstGeom prst="rect">
            <a:avLst/>
          </a:prstGeom>
          <a:noFill/>
          <a:ln>
            <a:noFill/>
          </a:ln>
        </p:spPr>
      </p:pic>
      <p:pic>
        <p:nvPicPr>
          <p:cNvPr id="294" name="Google Shape;294;g31c365ece61_18_27"/>
          <p:cNvPicPr preferRelativeResize="0"/>
          <p:nvPr/>
        </p:nvPicPr>
        <p:blipFill rotWithShape="1">
          <a:blip r:embed="rId4">
            <a:alphaModFix/>
          </a:blip>
          <a:srcRect b="0" l="4800" r="-4799" t="0"/>
          <a:stretch/>
        </p:blipFill>
        <p:spPr>
          <a:xfrm>
            <a:off x="8670825" y="2962275"/>
            <a:ext cx="9865026" cy="67381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F1F4"/>
        </a:solidFill>
      </p:bgPr>
    </p:bg>
    <p:spTree>
      <p:nvGrpSpPr>
        <p:cNvPr id="298" name="Shape 298"/>
        <p:cNvGrpSpPr/>
        <p:nvPr/>
      </p:nvGrpSpPr>
      <p:grpSpPr>
        <a:xfrm>
          <a:off x="0" y="0"/>
          <a:ext cx="0" cy="0"/>
          <a:chOff x="0" y="0"/>
          <a:chExt cx="0" cy="0"/>
        </a:xfrm>
      </p:grpSpPr>
      <p:grpSp>
        <p:nvGrpSpPr>
          <p:cNvPr id="299" name="Google Shape;299;g31c365ece61_18_18"/>
          <p:cNvGrpSpPr/>
          <p:nvPr/>
        </p:nvGrpSpPr>
        <p:grpSpPr>
          <a:xfrm>
            <a:off x="0" y="0"/>
            <a:ext cx="18288118" cy="2698544"/>
            <a:chOff x="0" y="0"/>
            <a:chExt cx="4816592" cy="1115147"/>
          </a:xfrm>
        </p:grpSpPr>
        <p:sp>
          <p:nvSpPr>
            <p:cNvPr id="300" name="Google Shape;300;g31c365ece61_18_18"/>
            <p:cNvSpPr/>
            <p:nvPr/>
          </p:nvSpPr>
          <p:spPr>
            <a:xfrm>
              <a:off x="0" y="0"/>
              <a:ext cx="4816592" cy="1115147"/>
            </a:xfrm>
            <a:custGeom>
              <a:rect b="b" l="l" r="r" t="t"/>
              <a:pathLst>
                <a:path extrusionOk="0" h="1115147" w="4816592">
                  <a:moveTo>
                    <a:pt x="0" y="0"/>
                  </a:moveTo>
                  <a:lnTo>
                    <a:pt x="4816592" y="0"/>
                  </a:lnTo>
                  <a:lnTo>
                    <a:pt x="4816592" y="1115147"/>
                  </a:lnTo>
                  <a:lnTo>
                    <a:pt x="0" y="1115147"/>
                  </a:lnTo>
                  <a:close/>
                </a:path>
              </a:pathLst>
            </a:custGeom>
            <a:solidFill>
              <a:srgbClr val="A1D4E1"/>
            </a:solidFill>
            <a:ln>
              <a:noFill/>
            </a:ln>
          </p:spPr>
        </p:sp>
        <p:sp>
          <p:nvSpPr>
            <p:cNvPr id="301" name="Google Shape;301;g31c365ece61_18_18"/>
            <p:cNvSpPr txBox="1"/>
            <p:nvPr/>
          </p:nvSpPr>
          <p:spPr>
            <a:xfrm>
              <a:off x="0" y="0"/>
              <a:ext cx="4816500" cy="11151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2" name="Google Shape;302;g31c365ece61_18_18"/>
          <p:cNvSpPr txBox="1"/>
          <p:nvPr/>
        </p:nvSpPr>
        <p:spPr>
          <a:xfrm>
            <a:off x="1143000" y="872500"/>
            <a:ext cx="16417500" cy="11853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lang="en-US" sz="7700">
                <a:solidFill>
                  <a:srgbClr val="294069"/>
                </a:solidFill>
              </a:rPr>
              <a:t>LightGBM - Class Manipulation</a:t>
            </a:r>
            <a:endParaRPr/>
          </a:p>
        </p:txBody>
      </p:sp>
      <p:pic>
        <p:nvPicPr>
          <p:cNvPr id="303" name="Google Shape;303;g31c365ece61_18_18"/>
          <p:cNvPicPr preferRelativeResize="0"/>
          <p:nvPr/>
        </p:nvPicPr>
        <p:blipFill>
          <a:blip r:embed="rId3">
            <a:alphaModFix/>
          </a:blip>
          <a:stretch>
            <a:fillRect/>
          </a:stretch>
        </p:blipFill>
        <p:spPr>
          <a:xfrm>
            <a:off x="128650" y="2910625"/>
            <a:ext cx="8517400" cy="6938700"/>
          </a:xfrm>
          <a:prstGeom prst="rect">
            <a:avLst/>
          </a:prstGeom>
          <a:noFill/>
          <a:ln>
            <a:noFill/>
          </a:ln>
        </p:spPr>
      </p:pic>
      <p:pic>
        <p:nvPicPr>
          <p:cNvPr id="304" name="Google Shape;304;g31c365ece61_18_18"/>
          <p:cNvPicPr preferRelativeResize="0"/>
          <p:nvPr/>
        </p:nvPicPr>
        <p:blipFill>
          <a:blip r:embed="rId4">
            <a:alphaModFix/>
          </a:blip>
          <a:stretch>
            <a:fillRect/>
          </a:stretch>
        </p:blipFill>
        <p:spPr>
          <a:xfrm>
            <a:off x="8828875" y="2698550"/>
            <a:ext cx="9331274" cy="73628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F1F4"/>
        </a:solidFill>
      </p:bgPr>
    </p:bg>
    <p:spTree>
      <p:nvGrpSpPr>
        <p:cNvPr id="308" name="Shape 308"/>
        <p:cNvGrpSpPr/>
        <p:nvPr/>
      </p:nvGrpSpPr>
      <p:grpSpPr>
        <a:xfrm>
          <a:off x="0" y="0"/>
          <a:ext cx="0" cy="0"/>
          <a:chOff x="0" y="0"/>
          <a:chExt cx="0" cy="0"/>
        </a:xfrm>
      </p:grpSpPr>
      <p:grpSp>
        <p:nvGrpSpPr>
          <p:cNvPr id="309" name="Google Shape;309;g2a46bd76c40_0_0"/>
          <p:cNvGrpSpPr/>
          <p:nvPr/>
        </p:nvGrpSpPr>
        <p:grpSpPr>
          <a:xfrm>
            <a:off x="-62" y="0"/>
            <a:ext cx="18288118" cy="2698544"/>
            <a:chOff x="0" y="0"/>
            <a:chExt cx="4816592" cy="1115147"/>
          </a:xfrm>
        </p:grpSpPr>
        <p:sp>
          <p:nvSpPr>
            <p:cNvPr id="310" name="Google Shape;310;g2a46bd76c40_0_0"/>
            <p:cNvSpPr/>
            <p:nvPr/>
          </p:nvSpPr>
          <p:spPr>
            <a:xfrm>
              <a:off x="0" y="0"/>
              <a:ext cx="4816592" cy="1115147"/>
            </a:xfrm>
            <a:custGeom>
              <a:rect b="b" l="l" r="r" t="t"/>
              <a:pathLst>
                <a:path extrusionOk="0" h="1115147" w="4816592">
                  <a:moveTo>
                    <a:pt x="0" y="0"/>
                  </a:moveTo>
                  <a:lnTo>
                    <a:pt x="4816592" y="0"/>
                  </a:lnTo>
                  <a:lnTo>
                    <a:pt x="4816592" y="1115147"/>
                  </a:lnTo>
                  <a:lnTo>
                    <a:pt x="0" y="1115147"/>
                  </a:lnTo>
                  <a:close/>
                </a:path>
              </a:pathLst>
            </a:custGeom>
            <a:solidFill>
              <a:srgbClr val="A1D4E1"/>
            </a:solidFill>
            <a:ln>
              <a:noFill/>
            </a:ln>
          </p:spPr>
        </p:sp>
        <p:sp>
          <p:nvSpPr>
            <p:cNvPr id="311" name="Google Shape;311;g2a46bd76c40_0_0"/>
            <p:cNvSpPr txBox="1"/>
            <p:nvPr/>
          </p:nvSpPr>
          <p:spPr>
            <a:xfrm>
              <a:off x="0" y="0"/>
              <a:ext cx="4816500" cy="11151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2" name="Google Shape;312;g2a46bd76c40_0_0"/>
          <p:cNvSpPr txBox="1"/>
          <p:nvPr/>
        </p:nvSpPr>
        <p:spPr>
          <a:xfrm>
            <a:off x="1143000" y="872500"/>
            <a:ext cx="16417500" cy="11853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lang="en-US" sz="7700">
                <a:solidFill>
                  <a:srgbClr val="294069"/>
                </a:solidFill>
              </a:rPr>
              <a:t>Method Accuracy Comparison</a:t>
            </a:r>
            <a:endParaRPr/>
          </a:p>
        </p:txBody>
      </p:sp>
      <p:graphicFrame>
        <p:nvGraphicFramePr>
          <p:cNvPr id="313" name="Google Shape;313;g2a46bd76c40_0_0"/>
          <p:cNvGraphicFramePr/>
          <p:nvPr/>
        </p:nvGraphicFramePr>
        <p:xfrm>
          <a:off x="3261075" y="2698550"/>
          <a:ext cx="3000000" cy="3000000"/>
        </p:xfrm>
        <a:graphic>
          <a:graphicData uri="http://schemas.openxmlformats.org/drawingml/2006/table">
            <a:tbl>
              <a:tblPr>
                <a:noFill/>
                <a:tableStyleId>{3ADC45B8-90F7-4D56-80D7-F929288013C0}</a:tableStyleId>
              </a:tblPr>
              <a:tblGrid>
                <a:gridCol w="2499075"/>
                <a:gridCol w="2863775"/>
                <a:gridCol w="3120450"/>
                <a:gridCol w="3282550"/>
              </a:tblGrid>
              <a:tr h="780100">
                <a:tc>
                  <a:txBody>
                    <a:bodyPr/>
                    <a:lstStyle/>
                    <a:p>
                      <a:pPr indent="0" lvl="0" marL="0" rtl="0" algn="l">
                        <a:lnSpc>
                          <a:spcPct val="115000"/>
                        </a:lnSpc>
                        <a:spcBef>
                          <a:spcPts val="0"/>
                        </a:spcBef>
                        <a:spcAft>
                          <a:spcPts val="0"/>
                        </a:spcAft>
                        <a:buNone/>
                      </a:pPr>
                      <a:r>
                        <a:rPr lang="en-US" sz="2500">
                          <a:solidFill>
                            <a:srgbClr val="FFFFFF"/>
                          </a:solidFill>
                          <a:latin typeface="Roboto"/>
                          <a:ea typeface="Roboto"/>
                          <a:cs typeface="Roboto"/>
                          <a:sym typeface="Roboto"/>
                        </a:rPr>
                        <a:t>Model</a:t>
                      </a:r>
                      <a:endParaRPr sz="2500">
                        <a:solidFill>
                          <a:srgbClr val="FFFFFF"/>
                        </a:solidFill>
                        <a:latin typeface="Roboto"/>
                        <a:ea typeface="Roboto"/>
                        <a:cs typeface="Roboto"/>
                        <a:sym typeface="Roboto"/>
                      </a:endParaRPr>
                    </a:p>
                  </a:txBody>
                  <a:tcPr marT="19050" marB="19050" marR="76200" marL="76200" anchor="ctr">
                    <a:lnL cap="flat" cmpd="sng" w="6350">
                      <a:solidFill>
                        <a:srgbClr val="284E3F"/>
                      </a:solidFill>
                      <a:prstDash val="solid"/>
                      <a:round/>
                      <a:headEnd len="sm" w="sm" type="none"/>
                      <a:tailEnd len="sm" w="sm" type="none"/>
                    </a:lnL>
                    <a:lnR cap="flat" cmpd="sng" w="6350">
                      <a:solidFill>
                        <a:srgbClr val="356854"/>
                      </a:solidFill>
                      <a:prstDash val="solid"/>
                      <a:round/>
                      <a:headEnd len="sm" w="sm" type="none"/>
                      <a:tailEnd len="sm" w="sm" type="none"/>
                    </a:lnR>
                    <a:lnT cap="flat" cmpd="sng" w="6350">
                      <a:solidFill>
                        <a:srgbClr val="284E3F"/>
                      </a:solidFill>
                      <a:prstDash val="solid"/>
                      <a:round/>
                      <a:headEnd len="sm" w="sm" type="none"/>
                      <a:tailEnd len="sm" w="sm" type="none"/>
                    </a:lnT>
                    <a:lnB cap="flat" cmpd="sng" w="6350">
                      <a:solidFill>
                        <a:srgbClr val="284E3F"/>
                      </a:solidFill>
                      <a:prstDash val="solid"/>
                      <a:round/>
                      <a:headEnd len="sm" w="sm" type="none"/>
                      <a:tailEnd len="sm" w="sm" type="none"/>
                    </a:lnB>
                    <a:solidFill>
                      <a:srgbClr val="F4956F"/>
                    </a:solidFill>
                    <a:extLst>
                      <a:ext uri="http://customooxmlschemas.google.com/">
                        <go:slidesCustomData xmlns:go="http://customooxmlschemas.google.com/" cellId="313:0:0"/>
                      </a:ext>
                    </a:extLst>
                  </a:tcPr>
                </a:tc>
                <a:tc>
                  <a:txBody>
                    <a:bodyPr/>
                    <a:lstStyle/>
                    <a:p>
                      <a:pPr indent="0" lvl="0" marL="0" rtl="0" algn="l">
                        <a:lnSpc>
                          <a:spcPct val="115000"/>
                        </a:lnSpc>
                        <a:spcBef>
                          <a:spcPts val="0"/>
                        </a:spcBef>
                        <a:spcAft>
                          <a:spcPts val="0"/>
                        </a:spcAft>
                        <a:buNone/>
                      </a:pPr>
                      <a:r>
                        <a:rPr lang="en-US" sz="2500">
                          <a:solidFill>
                            <a:srgbClr val="FFFFFF"/>
                          </a:solidFill>
                          <a:latin typeface="Roboto"/>
                          <a:ea typeface="Roboto"/>
                          <a:cs typeface="Roboto"/>
                          <a:sym typeface="Roboto"/>
                        </a:rPr>
                        <a:t>W/ Duplicates</a:t>
                      </a:r>
                      <a:endParaRPr sz="2500">
                        <a:solidFill>
                          <a:srgbClr val="FFFFFF"/>
                        </a:solidFill>
                        <a:latin typeface="Roboto"/>
                        <a:ea typeface="Roboto"/>
                        <a:cs typeface="Roboto"/>
                        <a:sym typeface="Roboto"/>
                      </a:endParaRPr>
                    </a:p>
                  </a:txBody>
                  <a:tcPr marT="19050" marB="19050" marR="76200" marL="76200" anchor="ctr">
                    <a:lnL cap="flat" cmpd="sng" w="6350">
                      <a:solidFill>
                        <a:srgbClr val="356854"/>
                      </a:solidFill>
                      <a:prstDash val="solid"/>
                      <a:round/>
                      <a:headEnd len="sm" w="sm" type="none"/>
                      <a:tailEnd len="sm" w="sm" type="none"/>
                    </a:lnL>
                    <a:lnR cap="flat" cmpd="sng" w="6350">
                      <a:solidFill>
                        <a:srgbClr val="356854"/>
                      </a:solidFill>
                      <a:prstDash val="solid"/>
                      <a:round/>
                      <a:headEnd len="sm" w="sm" type="none"/>
                      <a:tailEnd len="sm" w="sm" type="none"/>
                    </a:lnR>
                    <a:lnT cap="flat" cmpd="sng" w="6350">
                      <a:solidFill>
                        <a:srgbClr val="284E3F"/>
                      </a:solidFill>
                      <a:prstDash val="solid"/>
                      <a:round/>
                      <a:headEnd len="sm" w="sm" type="none"/>
                      <a:tailEnd len="sm" w="sm" type="none"/>
                    </a:lnT>
                    <a:lnB cap="flat" cmpd="sng" w="6350">
                      <a:solidFill>
                        <a:srgbClr val="284E3F"/>
                      </a:solidFill>
                      <a:prstDash val="solid"/>
                      <a:round/>
                      <a:headEnd len="sm" w="sm" type="none"/>
                      <a:tailEnd len="sm" w="sm" type="none"/>
                    </a:lnB>
                    <a:solidFill>
                      <a:srgbClr val="F4956F"/>
                    </a:solidFill>
                    <a:extLst>
                      <a:ext uri="http://customooxmlschemas.google.com/">
                        <go:slidesCustomData xmlns:go="http://customooxmlschemas.google.com/" cellId="313:0:1"/>
                      </a:ext>
                    </a:extLst>
                  </a:tcPr>
                </a:tc>
                <a:tc>
                  <a:txBody>
                    <a:bodyPr/>
                    <a:lstStyle/>
                    <a:p>
                      <a:pPr indent="0" lvl="0" marL="0" rtl="0" algn="l">
                        <a:lnSpc>
                          <a:spcPct val="115000"/>
                        </a:lnSpc>
                        <a:spcBef>
                          <a:spcPts val="0"/>
                        </a:spcBef>
                        <a:spcAft>
                          <a:spcPts val="0"/>
                        </a:spcAft>
                        <a:buNone/>
                      </a:pPr>
                      <a:r>
                        <a:rPr lang="en-US" sz="2500">
                          <a:solidFill>
                            <a:srgbClr val="FFFFFF"/>
                          </a:solidFill>
                          <a:latin typeface="Roboto"/>
                          <a:ea typeface="Roboto"/>
                          <a:cs typeface="Roboto"/>
                          <a:sym typeface="Roboto"/>
                        </a:rPr>
                        <a:t>W/O Duplicates</a:t>
                      </a:r>
                      <a:endParaRPr sz="2500">
                        <a:solidFill>
                          <a:srgbClr val="FFFFFF"/>
                        </a:solidFill>
                        <a:latin typeface="Roboto"/>
                        <a:ea typeface="Roboto"/>
                        <a:cs typeface="Roboto"/>
                        <a:sym typeface="Roboto"/>
                      </a:endParaRPr>
                    </a:p>
                  </a:txBody>
                  <a:tcPr marT="19050" marB="19050" marR="76200" marL="76200" anchor="ctr">
                    <a:lnL cap="flat" cmpd="sng" w="6350">
                      <a:solidFill>
                        <a:srgbClr val="356854"/>
                      </a:solidFill>
                      <a:prstDash val="solid"/>
                      <a:round/>
                      <a:headEnd len="sm" w="sm" type="none"/>
                      <a:tailEnd len="sm" w="sm" type="none"/>
                    </a:lnL>
                    <a:lnR cap="flat" cmpd="sng" w="6350">
                      <a:solidFill>
                        <a:srgbClr val="356854"/>
                      </a:solidFill>
                      <a:prstDash val="solid"/>
                      <a:round/>
                      <a:headEnd len="sm" w="sm" type="none"/>
                      <a:tailEnd len="sm" w="sm" type="none"/>
                    </a:lnR>
                    <a:lnT cap="flat" cmpd="sng" w="6350">
                      <a:solidFill>
                        <a:srgbClr val="284E3F"/>
                      </a:solidFill>
                      <a:prstDash val="solid"/>
                      <a:round/>
                      <a:headEnd len="sm" w="sm" type="none"/>
                      <a:tailEnd len="sm" w="sm" type="none"/>
                    </a:lnT>
                    <a:lnB cap="flat" cmpd="sng" w="6350">
                      <a:solidFill>
                        <a:srgbClr val="284E3F"/>
                      </a:solidFill>
                      <a:prstDash val="solid"/>
                      <a:round/>
                      <a:headEnd len="sm" w="sm" type="none"/>
                      <a:tailEnd len="sm" w="sm" type="none"/>
                    </a:lnB>
                    <a:solidFill>
                      <a:srgbClr val="F4956F"/>
                    </a:solidFill>
                    <a:extLst>
                      <a:ext uri="http://customooxmlschemas.google.com/">
                        <go:slidesCustomData xmlns:go="http://customooxmlschemas.google.com/" cellId="313:0:2"/>
                      </a:ext>
                    </a:extLst>
                  </a:tcPr>
                </a:tc>
                <a:tc>
                  <a:txBody>
                    <a:bodyPr/>
                    <a:lstStyle/>
                    <a:p>
                      <a:pPr indent="0" lvl="0" marL="0" rtl="0" algn="l">
                        <a:lnSpc>
                          <a:spcPct val="115000"/>
                        </a:lnSpc>
                        <a:spcBef>
                          <a:spcPts val="0"/>
                        </a:spcBef>
                        <a:spcAft>
                          <a:spcPts val="0"/>
                        </a:spcAft>
                        <a:buNone/>
                      </a:pPr>
                      <a:r>
                        <a:rPr lang="en-US" sz="2500">
                          <a:solidFill>
                            <a:srgbClr val="FFFFFF"/>
                          </a:solidFill>
                          <a:latin typeface="Roboto"/>
                          <a:ea typeface="Roboto"/>
                          <a:cs typeface="Roboto"/>
                          <a:sym typeface="Roboto"/>
                        </a:rPr>
                        <a:t>Class Manipulation</a:t>
                      </a:r>
                      <a:endParaRPr sz="2500">
                        <a:solidFill>
                          <a:srgbClr val="FFFFFF"/>
                        </a:solidFill>
                        <a:latin typeface="Roboto"/>
                        <a:ea typeface="Roboto"/>
                        <a:cs typeface="Roboto"/>
                        <a:sym typeface="Roboto"/>
                      </a:endParaRPr>
                    </a:p>
                  </a:txBody>
                  <a:tcPr marT="19050" marB="19050" marR="76200" marL="76200" anchor="ctr">
                    <a:lnL cap="flat" cmpd="sng" w="6350">
                      <a:solidFill>
                        <a:srgbClr val="356854"/>
                      </a:solidFill>
                      <a:prstDash val="solid"/>
                      <a:round/>
                      <a:headEnd len="sm" w="sm" type="none"/>
                      <a:tailEnd len="sm" w="sm" type="none"/>
                    </a:lnL>
                    <a:lnR cap="flat" cmpd="sng" w="6350">
                      <a:solidFill>
                        <a:srgbClr val="284E3F"/>
                      </a:solidFill>
                      <a:prstDash val="solid"/>
                      <a:round/>
                      <a:headEnd len="sm" w="sm" type="none"/>
                      <a:tailEnd len="sm" w="sm" type="none"/>
                    </a:lnR>
                    <a:lnT cap="flat" cmpd="sng" w="6350">
                      <a:solidFill>
                        <a:srgbClr val="284E3F"/>
                      </a:solidFill>
                      <a:prstDash val="solid"/>
                      <a:round/>
                      <a:headEnd len="sm" w="sm" type="none"/>
                      <a:tailEnd len="sm" w="sm" type="none"/>
                    </a:lnT>
                    <a:lnB cap="flat" cmpd="sng" w="6350">
                      <a:solidFill>
                        <a:srgbClr val="284E3F"/>
                      </a:solidFill>
                      <a:prstDash val="solid"/>
                      <a:round/>
                      <a:headEnd len="sm" w="sm" type="none"/>
                      <a:tailEnd len="sm" w="sm" type="none"/>
                    </a:lnB>
                    <a:solidFill>
                      <a:srgbClr val="F4956F"/>
                    </a:solidFill>
                    <a:extLst>
                      <a:ext uri="http://customooxmlschemas.google.com/">
                        <go:slidesCustomData xmlns:go="http://customooxmlschemas.google.com/" cellId="313:0:3"/>
                      </a:ext>
                    </a:extLst>
                  </a:tcPr>
                </a:tc>
              </a:tr>
              <a:tr h="2056700">
                <a:tc>
                  <a:txBody>
                    <a:bodyPr/>
                    <a:lstStyle/>
                    <a:p>
                      <a:pPr indent="0" lvl="0" marL="0" rtl="0" algn="l">
                        <a:lnSpc>
                          <a:spcPct val="115000"/>
                        </a:lnSpc>
                        <a:spcBef>
                          <a:spcPts val="0"/>
                        </a:spcBef>
                        <a:spcAft>
                          <a:spcPts val="0"/>
                        </a:spcAft>
                        <a:buNone/>
                      </a:pPr>
                      <a:r>
                        <a:rPr lang="en-US" sz="2500">
                          <a:solidFill>
                            <a:srgbClr val="434343"/>
                          </a:solidFill>
                          <a:latin typeface="Roboto"/>
                          <a:ea typeface="Roboto"/>
                          <a:cs typeface="Roboto"/>
                          <a:sym typeface="Roboto"/>
                        </a:rPr>
                        <a:t>Random Forest</a:t>
                      </a:r>
                      <a:endParaRPr sz="2500">
                        <a:solidFill>
                          <a:srgbClr val="434343"/>
                        </a:solidFill>
                        <a:latin typeface="Roboto"/>
                        <a:ea typeface="Roboto"/>
                        <a:cs typeface="Roboto"/>
                        <a:sym typeface="Roboto"/>
                      </a:endParaRPr>
                    </a:p>
                  </a:txBody>
                  <a:tcPr marT="19050" marB="19050" marR="76200" marL="76200" anchor="ctr">
                    <a:lnL cap="flat" cmpd="sng" w="6350">
                      <a:solidFill>
                        <a:srgbClr val="284E3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284E3F"/>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extLst>
                      <a:ext uri="http://customooxmlschemas.google.com/">
                        <go:slidesCustomData xmlns:go="http://customooxmlschemas.google.com/" cellId="313:1:0"/>
                      </a:ext>
                    </a:extLst>
                  </a:tcPr>
                </a:tc>
                <a:tc>
                  <a:txBody>
                    <a:bodyPr/>
                    <a:lstStyle/>
                    <a:p>
                      <a:pPr indent="0" lvl="0" marL="0" rtl="0" algn="ctr">
                        <a:lnSpc>
                          <a:spcPct val="115000"/>
                        </a:lnSpc>
                        <a:spcBef>
                          <a:spcPts val="0"/>
                        </a:spcBef>
                        <a:spcAft>
                          <a:spcPts val="0"/>
                        </a:spcAft>
                        <a:buNone/>
                      </a:pPr>
                      <a:r>
                        <a:rPr lang="en-US" sz="4500">
                          <a:solidFill>
                            <a:srgbClr val="434343"/>
                          </a:solidFill>
                          <a:latin typeface="Calibri"/>
                          <a:ea typeface="Calibri"/>
                          <a:cs typeface="Calibri"/>
                          <a:sym typeface="Calibri"/>
                        </a:rPr>
                        <a:t>0.991</a:t>
                      </a:r>
                      <a:endParaRPr sz="4500">
                        <a:solidFill>
                          <a:srgbClr val="434343"/>
                        </a:solidFill>
                        <a:latin typeface="Calibri"/>
                        <a:ea typeface="Calibri"/>
                        <a:cs typeface="Calibri"/>
                        <a:sym typeface="Calibri"/>
                      </a:endParaRPr>
                    </a:p>
                  </a:txBody>
                  <a:tcPr marT="19050" marB="19050" marR="76200" marL="76200"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284E3F"/>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extLst>
                      <a:ext uri="http://customooxmlschemas.google.com/">
                        <go:slidesCustomData xmlns:go="http://customooxmlschemas.google.com/" cellId="313:1:1"/>
                      </a:ext>
                    </a:extLst>
                  </a:tcPr>
                </a:tc>
                <a:tc>
                  <a:txBody>
                    <a:bodyPr/>
                    <a:lstStyle/>
                    <a:p>
                      <a:pPr indent="0" lvl="0" marL="0" rtl="0" algn="ctr">
                        <a:lnSpc>
                          <a:spcPct val="115000"/>
                        </a:lnSpc>
                        <a:spcBef>
                          <a:spcPts val="0"/>
                        </a:spcBef>
                        <a:spcAft>
                          <a:spcPts val="0"/>
                        </a:spcAft>
                        <a:buNone/>
                      </a:pPr>
                      <a:r>
                        <a:rPr lang="en-US" sz="4500">
                          <a:solidFill>
                            <a:srgbClr val="434343"/>
                          </a:solidFill>
                          <a:latin typeface="Calibri"/>
                          <a:ea typeface="Calibri"/>
                          <a:cs typeface="Calibri"/>
                          <a:sym typeface="Calibri"/>
                        </a:rPr>
                        <a:t>   </a:t>
                      </a:r>
                      <a:r>
                        <a:rPr lang="en-US" sz="4500">
                          <a:solidFill>
                            <a:srgbClr val="434343"/>
                          </a:solidFill>
                          <a:latin typeface="Calibri"/>
                          <a:ea typeface="Calibri"/>
                          <a:cs typeface="Calibri"/>
                          <a:sym typeface="Calibri"/>
                        </a:rPr>
                        <a:t>0.886</a:t>
                      </a:r>
                      <a:endParaRPr sz="4500">
                        <a:solidFill>
                          <a:srgbClr val="434343"/>
                        </a:solidFill>
                        <a:latin typeface="Calibri"/>
                        <a:ea typeface="Calibri"/>
                        <a:cs typeface="Calibri"/>
                        <a:sym typeface="Calibri"/>
                      </a:endParaRPr>
                    </a:p>
                  </a:txBody>
                  <a:tcPr marT="19050" marB="19050" marR="76200" marL="76200"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284E3F"/>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extLst>
                      <a:ext uri="http://customooxmlschemas.google.com/">
                        <go:slidesCustomData xmlns:go="http://customooxmlschemas.google.com/" cellId="313:1:2"/>
                      </a:ext>
                    </a:extLst>
                  </a:tcPr>
                </a:tc>
                <a:tc>
                  <a:txBody>
                    <a:bodyPr/>
                    <a:lstStyle/>
                    <a:p>
                      <a:pPr indent="0" lvl="0" marL="0" rtl="0" algn="ctr">
                        <a:lnSpc>
                          <a:spcPct val="115000"/>
                        </a:lnSpc>
                        <a:spcBef>
                          <a:spcPts val="0"/>
                        </a:spcBef>
                        <a:spcAft>
                          <a:spcPts val="0"/>
                        </a:spcAft>
                        <a:buNone/>
                      </a:pPr>
                      <a:r>
                        <a:rPr lang="en-US" sz="4500">
                          <a:solidFill>
                            <a:srgbClr val="434343"/>
                          </a:solidFill>
                          <a:latin typeface="Calibri"/>
                          <a:ea typeface="Calibri"/>
                          <a:cs typeface="Calibri"/>
                          <a:sym typeface="Calibri"/>
                        </a:rPr>
                        <a:t>   0.9850</a:t>
                      </a:r>
                      <a:endParaRPr sz="4500">
                        <a:solidFill>
                          <a:srgbClr val="434343"/>
                        </a:solidFill>
                        <a:latin typeface="Calibri"/>
                        <a:ea typeface="Calibri"/>
                        <a:cs typeface="Calibri"/>
                        <a:sym typeface="Calibri"/>
                      </a:endParaRPr>
                    </a:p>
                  </a:txBody>
                  <a:tcPr marT="19050" marB="19050" marR="76200" marL="76200"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284E3F"/>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extLst>
                      <a:ext uri="http://customooxmlschemas.google.com/">
                        <go:slidesCustomData xmlns:go="http://customooxmlschemas.google.com/" cellId="313:1:3"/>
                      </a:ext>
                    </a:extLst>
                  </a:tcPr>
                </a:tc>
              </a:tr>
              <a:tr h="2245800">
                <a:tc>
                  <a:txBody>
                    <a:bodyPr/>
                    <a:lstStyle/>
                    <a:p>
                      <a:pPr indent="0" lvl="0" marL="0" rtl="0" algn="l">
                        <a:lnSpc>
                          <a:spcPct val="115000"/>
                        </a:lnSpc>
                        <a:spcBef>
                          <a:spcPts val="0"/>
                        </a:spcBef>
                        <a:spcAft>
                          <a:spcPts val="0"/>
                        </a:spcAft>
                        <a:buNone/>
                      </a:pPr>
                      <a:r>
                        <a:rPr lang="en-US" sz="2500">
                          <a:solidFill>
                            <a:srgbClr val="434343"/>
                          </a:solidFill>
                          <a:latin typeface="Roboto"/>
                          <a:ea typeface="Roboto"/>
                          <a:cs typeface="Roboto"/>
                          <a:sym typeface="Roboto"/>
                        </a:rPr>
                        <a:t>XGBoost</a:t>
                      </a:r>
                      <a:endParaRPr sz="2500">
                        <a:solidFill>
                          <a:srgbClr val="434343"/>
                        </a:solidFill>
                        <a:latin typeface="Roboto"/>
                        <a:ea typeface="Roboto"/>
                        <a:cs typeface="Roboto"/>
                        <a:sym typeface="Roboto"/>
                      </a:endParaRPr>
                    </a:p>
                  </a:txBody>
                  <a:tcPr marT="19050" marB="19050" marR="76200" marL="76200" anchor="ctr">
                    <a:lnL cap="flat" cmpd="sng" w="6350">
                      <a:solidFill>
                        <a:srgbClr val="284E3F"/>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F6F8F9"/>
                      </a:solidFill>
                      <a:prstDash val="solid"/>
                      <a:round/>
                      <a:headEnd len="sm" w="sm" type="none"/>
                      <a:tailEnd len="sm" w="sm" type="none"/>
                    </a:lnB>
                    <a:solidFill>
                      <a:srgbClr val="F6F8F9"/>
                    </a:solidFill>
                    <a:extLst>
                      <a:ext uri="http://customooxmlschemas.google.com/">
                        <go:slidesCustomData xmlns:go="http://customooxmlschemas.google.com/" cellId="313:2:0"/>
                      </a:ext>
                    </a:extLst>
                  </a:tcPr>
                </a:tc>
                <a:tc>
                  <a:txBody>
                    <a:bodyPr/>
                    <a:lstStyle/>
                    <a:p>
                      <a:pPr indent="0" lvl="0" marL="0" rtl="0" algn="ctr">
                        <a:lnSpc>
                          <a:spcPct val="115000"/>
                        </a:lnSpc>
                        <a:spcBef>
                          <a:spcPts val="0"/>
                        </a:spcBef>
                        <a:spcAft>
                          <a:spcPts val="0"/>
                        </a:spcAft>
                        <a:buNone/>
                      </a:pPr>
                      <a:r>
                        <a:rPr lang="en-US" sz="4500">
                          <a:solidFill>
                            <a:srgbClr val="434343"/>
                          </a:solidFill>
                          <a:latin typeface="Calibri"/>
                          <a:ea typeface="Calibri"/>
                          <a:cs typeface="Calibri"/>
                          <a:sym typeface="Calibri"/>
                        </a:rPr>
                        <a:t>0.899</a:t>
                      </a:r>
                      <a:endParaRPr sz="4500">
                        <a:solidFill>
                          <a:srgbClr val="434343"/>
                        </a:solidFill>
                        <a:latin typeface="Calibri"/>
                        <a:ea typeface="Calibri"/>
                        <a:cs typeface="Calibri"/>
                        <a:sym typeface="Calibri"/>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F6F8F9"/>
                      </a:solidFill>
                      <a:prstDash val="solid"/>
                      <a:round/>
                      <a:headEnd len="sm" w="sm" type="none"/>
                      <a:tailEnd len="sm" w="sm" type="none"/>
                    </a:lnB>
                    <a:solidFill>
                      <a:srgbClr val="F6F8F9"/>
                    </a:solidFill>
                    <a:extLst>
                      <a:ext uri="http://customooxmlschemas.google.com/">
                        <go:slidesCustomData xmlns:go="http://customooxmlschemas.google.com/" cellId="313:2:1"/>
                      </a:ext>
                    </a:extLst>
                  </a:tcPr>
                </a:tc>
                <a:tc>
                  <a:txBody>
                    <a:bodyPr/>
                    <a:lstStyle/>
                    <a:p>
                      <a:pPr indent="0" lvl="0" marL="0" rtl="0" algn="ctr">
                        <a:lnSpc>
                          <a:spcPct val="115000"/>
                        </a:lnSpc>
                        <a:spcBef>
                          <a:spcPts val="0"/>
                        </a:spcBef>
                        <a:spcAft>
                          <a:spcPts val="0"/>
                        </a:spcAft>
                        <a:buNone/>
                      </a:pPr>
                      <a:r>
                        <a:rPr lang="en-US" sz="4500">
                          <a:solidFill>
                            <a:srgbClr val="434343"/>
                          </a:solidFill>
                          <a:latin typeface="Calibri"/>
                          <a:ea typeface="Calibri"/>
                          <a:cs typeface="Calibri"/>
                          <a:sym typeface="Calibri"/>
                        </a:rPr>
                        <a:t>   </a:t>
                      </a:r>
                      <a:r>
                        <a:rPr lang="en-US" sz="4500">
                          <a:solidFill>
                            <a:srgbClr val="434343"/>
                          </a:solidFill>
                          <a:latin typeface="Calibri"/>
                          <a:ea typeface="Calibri"/>
                          <a:cs typeface="Calibri"/>
                          <a:sym typeface="Calibri"/>
                        </a:rPr>
                        <a:t>0.901</a:t>
                      </a:r>
                      <a:endParaRPr sz="4500">
                        <a:solidFill>
                          <a:srgbClr val="434343"/>
                        </a:solidFill>
                        <a:latin typeface="Calibri"/>
                        <a:ea typeface="Calibri"/>
                        <a:cs typeface="Calibri"/>
                        <a:sym typeface="Calibri"/>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F6F8F9"/>
                      </a:solidFill>
                      <a:prstDash val="solid"/>
                      <a:round/>
                      <a:headEnd len="sm" w="sm" type="none"/>
                      <a:tailEnd len="sm" w="sm" type="none"/>
                    </a:lnB>
                    <a:solidFill>
                      <a:srgbClr val="F6F8F9"/>
                    </a:solidFill>
                    <a:extLst>
                      <a:ext uri="http://customooxmlschemas.google.com/">
                        <go:slidesCustomData xmlns:go="http://customooxmlschemas.google.com/" cellId="313:2:2"/>
                      </a:ext>
                    </a:extLst>
                  </a:tcPr>
                </a:tc>
                <a:tc>
                  <a:txBody>
                    <a:bodyPr/>
                    <a:lstStyle/>
                    <a:p>
                      <a:pPr indent="0" lvl="0" marL="0" rtl="0" algn="ctr">
                        <a:lnSpc>
                          <a:spcPct val="115000"/>
                        </a:lnSpc>
                        <a:spcBef>
                          <a:spcPts val="0"/>
                        </a:spcBef>
                        <a:spcAft>
                          <a:spcPts val="0"/>
                        </a:spcAft>
                        <a:buNone/>
                      </a:pPr>
                      <a:r>
                        <a:rPr lang="en-US" sz="4500">
                          <a:solidFill>
                            <a:srgbClr val="434343"/>
                          </a:solidFill>
                          <a:latin typeface="Calibri"/>
                          <a:ea typeface="Calibri"/>
                          <a:cs typeface="Calibri"/>
                          <a:sym typeface="Calibri"/>
                        </a:rPr>
                        <a:t>   0.8765</a:t>
                      </a:r>
                      <a:endParaRPr sz="4500">
                        <a:solidFill>
                          <a:srgbClr val="434343"/>
                        </a:solidFill>
                        <a:latin typeface="Calibri"/>
                        <a:ea typeface="Calibri"/>
                        <a:cs typeface="Calibri"/>
                        <a:sym typeface="Calibri"/>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F6F8F9"/>
                      </a:solidFill>
                      <a:prstDash val="solid"/>
                      <a:round/>
                      <a:headEnd len="sm" w="sm" type="none"/>
                      <a:tailEnd len="sm" w="sm" type="none"/>
                    </a:lnB>
                    <a:solidFill>
                      <a:srgbClr val="F6F8F9"/>
                    </a:solidFill>
                    <a:extLst>
                      <a:ext uri="http://customooxmlschemas.google.com/">
                        <go:slidesCustomData xmlns:go="http://customooxmlschemas.google.com/" cellId="313:2:3"/>
                      </a:ext>
                    </a:extLst>
                  </a:tcPr>
                </a:tc>
              </a:tr>
              <a:tr h="2505850">
                <a:tc>
                  <a:txBody>
                    <a:bodyPr/>
                    <a:lstStyle/>
                    <a:p>
                      <a:pPr indent="0" lvl="0" marL="0" rtl="0" algn="l">
                        <a:lnSpc>
                          <a:spcPct val="115000"/>
                        </a:lnSpc>
                        <a:spcBef>
                          <a:spcPts val="0"/>
                        </a:spcBef>
                        <a:spcAft>
                          <a:spcPts val="0"/>
                        </a:spcAft>
                        <a:buNone/>
                      </a:pPr>
                      <a:r>
                        <a:rPr lang="en-US" sz="2500">
                          <a:solidFill>
                            <a:srgbClr val="434343"/>
                          </a:solidFill>
                          <a:latin typeface="Roboto"/>
                          <a:ea typeface="Roboto"/>
                          <a:cs typeface="Roboto"/>
                          <a:sym typeface="Roboto"/>
                        </a:rPr>
                        <a:t>Light GBM</a:t>
                      </a:r>
                      <a:endParaRPr sz="2500">
                        <a:solidFill>
                          <a:srgbClr val="434343"/>
                        </a:solidFill>
                        <a:latin typeface="Roboto"/>
                        <a:ea typeface="Roboto"/>
                        <a:cs typeface="Roboto"/>
                        <a:sym typeface="Roboto"/>
                      </a:endParaRPr>
                    </a:p>
                  </a:txBody>
                  <a:tcPr marT="19050" marB="19050" marR="76200" marL="76200" anchor="ctr">
                    <a:lnL cap="flat" cmpd="sng" w="6350">
                      <a:solidFill>
                        <a:srgbClr val="284E3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284E3F"/>
                      </a:solidFill>
                      <a:prstDash val="solid"/>
                      <a:round/>
                      <a:headEnd len="sm" w="sm" type="none"/>
                      <a:tailEnd len="sm" w="sm" type="none"/>
                    </a:lnB>
                    <a:solidFill>
                      <a:srgbClr val="FFFFFF"/>
                    </a:solidFill>
                    <a:extLst>
                      <a:ext uri="http://customooxmlschemas.google.com/">
                        <go:slidesCustomData xmlns:go="http://customooxmlschemas.google.com/" cellId="313:3:0"/>
                      </a:ext>
                    </a:extLst>
                  </a:tcPr>
                </a:tc>
                <a:tc>
                  <a:txBody>
                    <a:bodyPr/>
                    <a:lstStyle/>
                    <a:p>
                      <a:pPr indent="0" lvl="0" marL="0" rtl="0" algn="ctr">
                        <a:lnSpc>
                          <a:spcPct val="115000"/>
                        </a:lnSpc>
                        <a:spcBef>
                          <a:spcPts val="0"/>
                        </a:spcBef>
                        <a:spcAft>
                          <a:spcPts val="0"/>
                        </a:spcAft>
                        <a:buNone/>
                      </a:pPr>
                      <a:r>
                        <a:rPr lang="en-US" sz="4500">
                          <a:solidFill>
                            <a:srgbClr val="434343"/>
                          </a:solidFill>
                          <a:latin typeface="Calibri"/>
                          <a:ea typeface="Calibri"/>
                          <a:cs typeface="Calibri"/>
                          <a:sym typeface="Calibri"/>
                        </a:rPr>
                        <a:t>0.866</a:t>
                      </a:r>
                      <a:endParaRPr sz="4500">
                        <a:solidFill>
                          <a:srgbClr val="434343"/>
                        </a:solidFill>
                        <a:latin typeface="Calibri"/>
                        <a:ea typeface="Calibri"/>
                        <a:cs typeface="Calibri"/>
                        <a:sym typeface="Calibri"/>
                      </a:endParaRPr>
                    </a:p>
                  </a:txBody>
                  <a:tcPr marT="19050" marB="19050" marR="76200" marL="76200"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284E3F"/>
                      </a:solidFill>
                      <a:prstDash val="solid"/>
                      <a:round/>
                      <a:headEnd len="sm" w="sm" type="none"/>
                      <a:tailEnd len="sm" w="sm" type="none"/>
                    </a:lnB>
                    <a:solidFill>
                      <a:srgbClr val="FFFFFF"/>
                    </a:solidFill>
                    <a:extLst>
                      <a:ext uri="http://customooxmlschemas.google.com/">
                        <go:slidesCustomData xmlns:go="http://customooxmlschemas.google.com/" cellId="313:3:1"/>
                      </a:ext>
                    </a:extLst>
                  </a:tcPr>
                </a:tc>
                <a:tc>
                  <a:txBody>
                    <a:bodyPr/>
                    <a:lstStyle/>
                    <a:p>
                      <a:pPr indent="0" lvl="0" marL="0" rtl="0" algn="ctr">
                        <a:lnSpc>
                          <a:spcPct val="115000"/>
                        </a:lnSpc>
                        <a:spcBef>
                          <a:spcPts val="0"/>
                        </a:spcBef>
                        <a:spcAft>
                          <a:spcPts val="0"/>
                        </a:spcAft>
                        <a:buNone/>
                      </a:pPr>
                      <a:r>
                        <a:rPr lang="en-US" sz="4500">
                          <a:solidFill>
                            <a:srgbClr val="434343"/>
                          </a:solidFill>
                          <a:latin typeface="Calibri"/>
                          <a:ea typeface="Calibri"/>
                          <a:cs typeface="Calibri"/>
                          <a:sym typeface="Calibri"/>
                        </a:rPr>
                        <a:t> </a:t>
                      </a:r>
                      <a:r>
                        <a:rPr lang="en-US" sz="4500">
                          <a:solidFill>
                            <a:srgbClr val="434343"/>
                          </a:solidFill>
                          <a:latin typeface="Calibri"/>
                          <a:ea typeface="Calibri"/>
                          <a:cs typeface="Calibri"/>
                          <a:sym typeface="Calibri"/>
                        </a:rPr>
                        <a:t>0.9058</a:t>
                      </a:r>
                      <a:endParaRPr sz="4500">
                        <a:solidFill>
                          <a:srgbClr val="434343"/>
                        </a:solidFill>
                        <a:latin typeface="Calibri"/>
                        <a:ea typeface="Calibri"/>
                        <a:cs typeface="Calibri"/>
                        <a:sym typeface="Calibri"/>
                      </a:endParaRPr>
                    </a:p>
                  </a:txBody>
                  <a:tcPr marT="19050" marB="19050" marR="76200" marL="76200"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284E3F"/>
                      </a:solidFill>
                      <a:prstDash val="solid"/>
                      <a:round/>
                      <a:headEnd len="sm" w="sm" type="none"/>
                      <a:tailEnd len="sm" w="sm" type="none"/>
                    </a:lnB>
                    <a:solidFill>
                      <a:srgbClr val="FFFFFF"/>
                    </a:solidFill>
                    <a:extLst>
                      <a:ext uri="http://customooxmlschemas.google.com/">
                        <go:slidesCustomData xmlns:go="http://customooxmlschemas.google.com/" cellId="313:3:2"/>
                      </a:ext>
                    </a:extLst>
                  </a:tcPr>
                </a:tc>
                <a:tc>
                  <a:txBody>
                    <a:bodyPr/>
                    <a:lstStyle/>
                    <a:p>
                      <a:pPr indent="0" lvl="0" marL="0" rtl="0" algn="ctr">
                        <a:lnSpc>
                          <a:spcPct val="115000"/>
                        </a:lnSpc>
                        <a:spcBef>
                          <a:spcPts val="0"/>
                        </a:spcBef>
                        <a:spcAft>
                          <a:spcPts val="0"/>
                        </a:spcAft>
                        <a:buNone/>
                      </a:pPr>
                      <a:r>
                        <a:rPr lang="en-US" sz="4500">
                          <a:solidFill>
                            <a:srgbClr val="434343"/>
                          </a:solidFill>
                          <a:latin typeface="Calibri"/>
                          <a:ea typeface="Calibri"/>
                          <a:cs typeface="Calibri"/>
                          <a:sym typeface="Calibri"/>
                        </a:rPr>
                        <a:t> 0.9823</a:t>
                      </a:r>
                      <a:endParaRPr sz="4500">
                        <a:solidFill>
                          <a:srgbClr val="434343"/>
                        </a:solidFill>
                        <a:latin typeface="Calibri"/>
                        <a:ea typeface="Calibri"/>
                        <a:cs typeface="Calibri"/>
                        <a:sym typeface="Calibri"/>
                      </a:endParaRPr>
                    </a:p>
                  </a:txBody>
                  <a:tcPr marT="19050" marB="19050" marR="76200" marL="76200"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284E3F"/>
                      </a:solidFill>
                      <a:prstDash val="solid"/>
                      <a:round/>
                      <a:headEnd len="sm" w="sm" type="none"/>
                      <a:tailEnd len="sm" w="sm" type="none"/>
                    </a:lnB>
                    <a:solidFill>
                      <a:srgbClr val="FFFFFF"/>
                    </a:solidFill>
                    <a:extLst>
                      <a:ext uri="http://customooxmlschemas.google.com/">
                        <go:slidesCustomData xmlns:go="http://customooxmlschemas.google.com/" cellId="313:3:3"/>
                      </a:ext>
                    </a:extLst>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F1F4"/>
        </a:solidFill>
      </p:bgPr>
    </p:bg>
    <p:spTree>
      <p:nvGrpSpPr>
        <p:cNvPr id="317" name="Shape 317"/>
        <p:cNvGrpSpPr/>
        <p:nvPr/>
      </p:nvGrpSpPr>
      <p:grpSpPr>
        <a:xfrm>
          <a:off x="0" y="0"/>
          <a:ext cx="0" cy="0"/>
          <a:chOff x="0" y="0"/>
          <a:chExt cx="0" cy="0"/>
        </a:xfrm>
      </p:grpSpPr>
      <p:grpSp>
        <p:nvGrpSpPr>
          <p:cNvPr id="318" name="Google Shape;318;g31c365ece61_5_52"/>
          <p:cNvGrpSpPr/>
          <p:nvPr/>
        </p:nvGrpSpPr>
        <p:grpSpPr>
          <a:xfrm>
            <a:off x="0" y="0"/>
            <a:ext cx="18288118" cy="3430108"/>
            <a:chOff x="0" y="0"/>
            <a:chExt cx="4816592" cy="903397"/>
          </a:xfrm>
        </p:grpSpPr>
        <p:sp>
          <p:nvSpPr>
            <p:cNvPr id="319" name="Google Shape;319;g31c365ece61_5_52"/>
            <p:cNvSpPr/>
            <p:nvPr/>
          </p:nvSpPr>
          <p:spPr>
            <a:xfrm>
              <a:off x="0" y="0"/>
              <a:ext cx="4816592" cy="903397"/>
            </a:xfrm>
            <a:custGeom>
              <a:rect b="b" l="l" r="r" t="t"/>
              <a:pathLst>
                <a:path extrusionOk="0" h="903397" w="4816592">
                  <a:moveTo>
                    <a:pt x="0" y="0"/>
                  </a:moveTo>
                  <a:lnTo>
                    <a:pt x="4816592" y="0"/>
                  </a:lnTo>
                  <a:lnTo>
                    <a:pt x="4816592" y="903397"/>
                  </a:lnTo>
                  <a:lnTo>
                    <a:pt x="0" y="903397"/>
                  </a:lnTo>
                  <a:close/>
                </a:path>
              </a:pathLst>
            </a:custGeom>
            <a:solidFill>
              <a:srgbClr val="A1D4E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g31c365ece61_5_52"/>
            <p:cNvSpPr txBox="1"/>
            <p:nvPr/>
          </p:nvSpPr>
          <p:spPr>
            <a:xfrm>
              <a:off x="0" y="0"/>
              <a:ext cx="4816500" cy="9033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21" name="Google Shape;321;g31c365ece61_5_52"/>
          <p:cNvGrpSpPr/>
          <p:nvPr/>
        </p:nvGrpSpPr>
        <p:grpSpPr>
          <a:xfrm>
            <a:off x="13293207" y="3430084"/>
            <a:ext cx="3966242" cy="5828621"/>
            <a:chOff x="0" y="0"/>
            <a:chExt cx="1044600" cy="1535100"/>
          </a:xfrm>
        </p:grpSpPr>
        <p:sp>
          <p:nvSpPr>
            <p:cNvPr id="322" name="Google Shape;322;g31c365ece61_5_52"/>
            <p:cNvSpPr/>
            <p:nvPr/>
          </p:nvSpPr>
          <p:spPr>
            <a:xfrm>
              <a:off x="0" y="0"/>
              <a:ext cx="1044568" cy="1535003"/>
            </a:xfrm>
            <a:custGeom>
              <a:rect b="b" l="l" r="r" t="t"/>
              <a:pathLst>
                <a:path extrusionOk="0" h="1535003" w="1044568">
                  <a:moveTo>
                    <a:pt x="0" y="0"/>
                  </a:moveTo>
                  <a:lnTo>
                    <a:pt x="1044568" y="0"/>
                  </a:lnTo>
                  <a:lnTo>
                    <a:pt x="1044568" y="1535003"/>
                  </a:lnTo>
                  <a:lnTo>
                    <a:pt x="0" y="1535003"/>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g31c365ece61_5_52"/>
            <p:cNvSpPr txBox="1"/>
            <p:nvPr/>
          </p:nvSpPr>
          <p:spPr>
            <a:xfrm>
              <a:off x="0" y="0"/>
              <a:ext cx="1044600" cy="15351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24" name="Google Shape;324;g31c365ece61_5_52"/>
          <p:cNvGrpSpPr/>
          <p:nvPr/>
        </p:nvGrpSpPr>
        <p:grpSpPr>
          <a:xfrm>
            <a:off x="14485991" y="2639821"/>
            <a:ext cx="1580490" cy="1580490"/>
            <a:chOff x="0" y="0"/>
            <a:chExt cx="812800" cy="812800"/>
          </a:xfrm>
        </p:grpSpPr>
        <p:sp>
          <p:nvSpPr>
            <p:cNvPr id="325" name="Google Shape;325;g31c365ece61_5_5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956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g31c365ece61_5_52"/>
            <p:cNvSpPr txBox="1"/>
            <p:nvPr/>
          </p:nvSpPr>
          <p:spPr>
            <a:xfrm>
              <a:off x="76200" y="76200"/>
              <a:ext cx="660300" cy="6603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7" name="Google Shape;327;g31c365ece61_5_52"/>
          <p:cNvSpPr/>
          <p:nvPr/>
        </p:nvSpPr>
        <p:spPr>
          <a:xfrm>
            <a:off x="1028700" y="4081577"/>
            <a:ext cx="638175" cy="638175"/>
          </a:xfrm>
          <a:custGeom>
            <a:rect b="b" l="l" r="r" t="t"/>
            <a:pathLst>
              <a:path extrusionOk="0" h="638175" w="638175">
                <a:moveTo>
                  <a:pt x="0" y="0"/>
                </a:moveTo>
                <a:lnTo>
                  <a:pt x="638175" y="0"/>
                </a:lnTo>
                <a:lnTo>
                  <a:pt x="638175" y="638175"/>
                </a:lnTo>
                <a:lnTo>
                  <a:pt x="0" y="63817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8" name="Google Shape;328;g31c365ece61_5_52"/>
          <p:cNvSpPr/>
          <p:nvPr/>
        </p:nvSpPr>
        <p:spPr>
          <a:xfrm>
            <a:off x="1028699" y="5783963"/>
            <a:ext cx="638175" cy="638175"/>
          </a:xfrm>
          <a:custGeom>
            <a:rect b="b" l="l" r="r" t="t"/>
            <a:pathLst>
              <a:path extrusionOk="0" h="638175" w="638175">
                <a:moveTo>
                  <a:pt x="0" y="0"/>
                </a:moveTo>
                <a:lnTo>
                  <a:pt x="638175" y="0"/>
                </a:lnTo>
                <a:lnTo>
                  <a:pt x="638175" y="638175"/>
                </a:lnTo>
                <a:lnTo>
                  <a:pt x="0" y="63817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9" name="Google Shape;329;g31c365ece61_5_52"/>
          <p:cNvSpPr/>
          <p:nvPr/>
        </p:nvSpPr>
        <p:spPr>
          <a:xfrm>
            <a:off x="1059447" y="7274879"/>
            <a:ext cx="638175" cy="638175"/>
          </a:xfrm>
          <a:custGeom>
            <a:rect b="b" l="l" r="r" t="t"/>
            <a:pathLst>
              <a:path extrusionOk="0" h="638175" w="638175">
                <a:moveTo>
                  <a:pt x="0" y="0"/>
                </a:moveTo>
                <a:lnTo>
                  <a:pt x="638175" y="0"/>
                </a:lnTo>
                <a:lnTo>
                  <a:pt x="638175" y="638175"/>
                </a:lnTo>
                <a:lnTo>
                  <a:pt x="0" y="63817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0" name="Google Shape;330;g31c365ece61_5_52"/>
          <p:cNvSpPr/>
          <p:nvPr/>
        </p:nvSpPr>
        <p:spPr>
          <a:xfrm>
            <a:off x="14760424" y="2869399"/>
            <a:ext cx="1031660" cy="1121369"/>
          </a:xfrm>
          <a:custGeom>
            <a:rect b="b" l="l" r="r" t="t"/>
            <a:pathLst>
              <a:path extrusionOk="0" h="1121369" w="1031660">
                <a:moveTo>
                  <a:pt x="0" y="0"/>
                </a:moveTo>
                <a:lnTo>
                  <a:pt x="1031659" y="0"/>
                </a:lnTo>
                <a:lnTo>
                  <a:pt x="1031659" y="1121369"/>
                </a:lnTo>
                <a:lnTo>
                  <a:pt x="0" y="112136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1" name="Google Shape;331;g31c365ece61_5_52"/>
          <p:cNvSpPr/>
          <p:nvPr/>
        </p:nvSpPr>
        <p:spPr>
          <a:xfrm>
            <a:off x="13293207" y="608635"/>
            <a:ext cx="2498876" cy="1563730"/>
          </a:xfrm>
          <a:custGeom>
            <a:rect b="b" l="l" r="r" t="t"/>
            <a:pathLst>
              <a:path extrusionOk="0" h="1563730" w="2498876">
                <a:moveTo>
                  <a:pt x="0" y="0"/>
                </a:moveTo>
                <a:lnTo>
                  <a:pt x="2498876" y="0"/>
                </a:lnTo>
                <a:lnTo>
                  <a:pt x="2498876" y="1563730"/>
                </a:lnTo>
                <a:lnTo>
                  <a:pt x="0" y="156373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g31c365ece61_5_52"/>
          <p:cNvSpPr/>
          <p:nvPr/>
        </p:nvSpPr>
        <p:spPr>
          <a:xfrm>
            <a:off x="15919210" y="604952"/>
            <a:ext cx="1340090" cy="1567413"/>
          </a:xfrm>
          <a:custGeom>
            <a:rect b="b" l="l" r="r" t="t"/>
            <a:pathLst>
              <a:path extrusionOk="0" h="1567413" w="1340090">
                <a:moveTo>
                  <a:pt x="0" y="0"/>
                </a:moveTo>
                <a:lnTo>
                  <a:pt x="1340090" y="0"/>
                </a:lnTo>
                <a:lnTo>
                  <a:pt x="1340090" y="1567413"/>
                </a:lnTo>
                <a:lnTo>
                  <a:pt x="0" y="1567413"/>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 name="Google Shape;333;g31c365ece61_5_52"/>
          <p:cNvSpPr txBox="1"/>
          <p:nvPr/>
        </p:nvSpPr>
        <p:spPr>
          <a:xfrm>
            <a:off x="1028700" y="684835"/>
            <a:ext cx="11250000" cy="1185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lang="en-US" sz="7700">
                <a:solidFill>
                  <a:srgbClr val="294069"/>
                </a:solidFill>
                <a:latin typeface="Arial"/>
                <a:ea typeface="Arial"/>
                <a:cs typeface="Arial"/>
                <a:sym typeface="Arial"/>
              </a:rPr>
              <a:t>Learning outcomes</a:t>
            </a:r>
            <a:endParaRPr/>
          </a:p>
        </p:txBody>
      </p:sp>
      <p:sp>
        <p:nvSpPr>
          <p:cNvPr id="334" name="Google Shape;334;g31c365ece61_5_52"/>
          <p:cNvSpPr txBox="1"/>
          <p:nvPr/>
        </p:nvSpPr>
        <p:spPr>
          <a:xfrm>
            <a:off x="1963274" y="4151327"/>
            <a:ext cx="7588500" cy="461700"/>
          </a:xfrm>
          <a:prstGeom prst="rect">
            <a:avLst/>
          </a:prstGeom>
          <a:noFill/>
          <a:ln>
            <a:noFill/>
          </a:ln>
        </p:spPr>
        <p:txBody>
          <a:bodyPr anchorCtr="0" anchor="t" bIns="0" lIns="0" spcFirstLastPara="1" rIns="0" wrap="square" tIns="0">
            <a:spAutoFit/>
          </a:bodyPr>
          <a:lstStyle/>
          <a:p>
            <a:pPr indent="0" lvl="0" marL="0" marR="0" rtl="0" algn="l">
              <a:lnSpc>
                <a:spcPct val="165000"/>
              </a:lnSpc>
              <a:spcBef>
                <a:spcPts val="0"/>
              </a:spcBef>
              <a:spcAft>
                <a:spcPts val="0"/>
              </a:spcAft>
              <a:buNone/>
            </a:pPr>
            <a:r>
              <a:rPr lang="en-US" sz="3000">
                <a:solidFill>
                  <a:schemeClr val="dk1"/>
                </a:solidFill>
                <a:latin typeface="Arial"/>
                <a:ea typeface="Arial"/>
                <a:cs typeface="Arial"/>
                <a:sym typeface="Arial"/>
              </a:rPr>
              <a:t>Handling redundancy in datasets</a:t>
            </a:r>
            <a:endParaRPr sz="3000" u="none" strike="noStrike">
              <a:solidFill>
                <a:schemeClr val="dk1"/>
              </a:solidFill>
              <a:latin typeface="Arial"/>
              <a:ea typeface="Arial"/>
              <a:cs typeface="Arial"/>
              <a:sym typeface="Arial"/>
            </a:endParaRPr>
          </a:p>
        </p:txBody>
      </p:sp>
      <p:sp>
        <p:nvSpPr>
          <p:cNvPr id="335" name="Google Shape;335;g31c365ece61_5_52"/>
          <p:cNvSpPr txBox="1"/>
          <p:nvPr/>
        </p:nvSpPr>
        <p:spPr>
          <a:xfrm>
            <a:off x="1936380" y="5782722"/>
            <a:ext cx="8502900" cy="923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000">
                <a:solidFill>
                  <a:schemeClr val="dk1"/>
                </a:solidFill>
                <a:latin typeface="Arial"/>
                <a:ea typeface="Arial"/>
                <a:cs typeface="Arial"/>
                <a:sym typeface="Arial"/>
              </a:rPr>
              <a:t>Addressing Class Imbalances</a:t>
            </a:r>
            <a:endParaRPr/>
          </a:p>
          <a:p>
            <a:pPr indent="0" lvl="0" marL="0" marR="0" rtl="0" algn="l">
              <a:spcBef>
                <a:spcPts val="0"/>
              </a:spcBef>
              <a:spcAft>
                <a:spcPts val="0"/>
              </a:spcAft>
              <a:buNone/>
            </a:pPr>
            <a:r>
              <a:t/>
            </a:r>
            <a:endParaRPr sz="3000">
              <a:solidFill>
                <a:schemeClr val="dk1"/>
              </a:solidFill>
              <a:latin typeface="Arial"/>
              <a:ea typeface="Arial"/>
              <a:cs typeface="Arial"/>
              <a:sym typeface="Arial"/>
            </a:endParaRPr>
          </a:p>
        </p:txBody>
      </p:sp>
      <p:sp>
        <p:nvSpPr>
          <p:cNvPr id="336" name="Google Shape;336;g31c365ece61_5_52"/>
          <p:cNvSpPr txBox="1"/>
          <p:nvPr/>
        </p:nvSpPr>
        <p:spPr>
          <a:xfrm>
            <a:off x="1936380" y="7274879"/>
            <a:ext cx="9264900" cy="1847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strike="noStrike">
                <a:solidFill>
                  <a:srgbClr val="000000"/>
                </a:solidFill>
                <a:latin typeface="Arial"/>
                <a:ea typeface="Arial"/>
                <a:cs typeface="Arial"/>
                <a:sym typeface="Arial"/>
              </a:rPr>
              <a:t>Analyzed how dataset preprocessing choices affect model accuracy</a:t>
            </a:r>
            <a:endParaRPr b="0" sz="3000">
              <a:solidFill>
                <a:schemeClr val="dk1"/>
              </a:solidFill>
              <a:latin typeface="Arial"/>
              <a:ea typeface="Arial"/>
              <a:cs typeface="Arial"/>
              <a:sym typeface="Arial"/>
            </a:endParaRPr>
          </a:p>
          <a:p>
            <a:pPr indent="0" lvl="0" marL="0" marR="0" rtl="0" algn="l">
              <a:spcBef>
                <a:spcPts val="0"/>
              </a:spcBef>
              <a:spcAft>
                <a:spcPts val="0"/>
              </a:spcAft>
              <a:buNone/>
            </a:pPr>
            <a:br>
              <a:rPr lang="en-US" sz="3000">
                <a:solidFill>
                  <a:schemeClr val="dk1"/>
                </a:solidFill>
                <a:latin typeface="Arial"/>
                <a:ea typeface="Arial"/>
                <a:cs typeface="Arial"/>
                <a:sym typeface="Arial"/>
              </a:rPr>
            </a:br>
            <a:endParaRPr sz="3000">
              <a:solidFill>
                <a:srgbClr val="294069"/>
              </a:solidFill>
              <a:latin typeface="Arial"/>
              <a:ea typeface="Arial"/>
              <a:cs typeface="Arial"/>
              <a:sym typeface="Arial"/>
            </a:endParaRPr>
          </a:p>
        </p:txBody>
      </p:sp>
      <p:sp>
        <p:nvSpPr>
          <p:cNvPr id="337" name="Google Shape;337;g31c365ece61_5_52"/>
          <p:cNvSpPr txBox="1"/>
          <p:nvPr/>
        </p:nvSpPr>
        <p:spPr>
          <a:xfrm>
            <a:off x="13770723" y="4548937"/>
            <a:ext cx="3011100" cy="4605300"/>
          </a:xfrm>
          <a:prstGeom prst="rect">
            <a:avLst/>
          </a:prstGeom>
          <a:noFill/>
          <a:ln>
            <a:noFill/>
          </a:ln>
        </p:spPr>
        <p:txBody>
          <a:bodyPr anchorCtr="0" anchor="t" bIns="0" lIns="0" spcFirstLastPara="1" rIns="0" wrap="square" tIns="0">
            <a:spAutoFit/>
          </a:bodyPr>
          <a:lstStyle/>
          <a:p>
            <a:pPr indent="0" lvl="0" marL="0" marR="0" rtl="0" algn="ctr">
              <a:lnSpc>
                <a:spcPct val="128333"/>
              </a:lnSpc>
              <a:spcBef>
                <a:spcPts val="0"/>
              </a:spcBef>
              <a:spcAft>
                <a:spcPts val="0"/>
              </a:spcAft>
              <a:buNone/>
            </a:pPr>
            <a:r>
              <a:rPr b="0" i="0" lang="en-US" sz="2400" u="none" strike="noStrike">
                <a:solidFill>
                  <a:srgbClr val="000000"/>
                </a:solidFill>
                <a:latin typeface="Arial"/>
                <a:ea typeface="Arial"/>
                <a:cs typeface="Arial"/>
                <a:sym typeface="Arial"/>
              </a:rPr>
              <a:t>Gained an appreciation for the complexities of working with biological and chemical datasets, such as duplicate entries and imbalanced classes.</a:t>
            </a:r>
            <a:endParaRPr sz="2400">
              <a:solidFill>
                <a:schemeClr val="dk1"/>
              </a:solidFill>
              <a:latin typeface="Arial"/>
              <a:ea typeface="Arial"/>
              <a:cs typeface="Arial"/>
              <a:sym typeface="Arial"/>
            </a:endParaRPr>
          </a:p>
          <a:p>
            <a:pPr indent="0" lvl="0" marL="0" marR="0" rtl="0" algn="ctr">
              <a:lnSpc>
                <a:spcPct val="140000"/>
              </a:lnSpc>
              <a:spcBef>
                <a:spcPts val="0"/>
              </a:spcBef>
              <a:spcAft>
                <a:spcPts val="0"/>
              </a:spcAft>
              <a:buNone/>
            </a:pPr>
            <a:r>
              <a:rPr lang="en-US" sz="2200">
                <a:solidFill>
                  <a:srgbClr val="294069"/>
                </a:solidFill>
                <a:latin typeface="Arial"/>
                <a:ea typeface="Arial"/>
                <a:cs typeface="Arial"/>
                <a:sym typeface="Arial"/>
              </a:rPr>
              <a: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F1F4"/>
        </a:solidFill>
      </p:bgPr>
    </p:bg>
    <p:spTree>
      <p:nvGrpSpPr>
        <p:cNvPr id="341" name="Shape 341"/>
        <p:cNvGrpSpPr/>
        <p:nvPr/>
      </p:nvGrpSpPr>
      <p:grpSpPr>
        <a:xfrm>
          <a:off x="0" y="0"/>
          <a:ext cx="0" cy="0"/>
          <a:chOff x="0" y="0"/>
          <a:chExt cx="0" cy="0"/>
        </a:xfrm>
      </p:grpSpPr>
      <p:grpSp>
        <p:nvGrpSpPr>
          <p:cNvPr id="342" name="Google Shape;342;g2d66fe037e7_0_0"/>
          <p:cNvGrpSpPr/>
          <p:nvPr/>
        </p:nvGrpSpPr>
        <p:grpSpPr>
          <a:xfrm>
            <a:off x="3640527" y="3917805"/>
            <a:ext cx="10784715" cy="1830485"/>
            <a:chOff x="0" y="0"/>
            <a:chExt cx="2840400" cy="482100"/>
          </a:xfrm>
        </p:grpSpPr>
        <p:sp>
          <p:nvSpPr>
            <p:cNvPr id="343" name="Google Shape;343;g2d66fe037e7_0_0"/>
            <p:cNvSpPr/>
            <p:nvPr/>
          </p:nvSpPr>
          <p:spPr>
            <a:xfrm>
              <a:off x="0" y="0"/>
              <a:ext cx="2840368" cy="482034"/>
            </a:xfrm>
            <a:custGeom>
              <a:rect b="b" l="l" r="r" t="t"/>
              <a:pathLst>
                <a:path extrusionOk="0" h="482034" w="2840368">
                  <a:moveTo>
                    <a:pt x="0" y="0"/>
                  </a:moveTo>
                  <a:lnTo>
                    <a:pt x="2840368" y="0"/>
                  </a:lnTo>
                  <a:lnTo>
                    <a:pt x="2840368" y="482034"/>
                  </a:lnTo>
                  <a:lnTo>
                    <a:pt x="0" y="482034"/>
                  </a:lnTo>
                  <a:close/>
                </a:path>
              </a:pathLst>
            </a:custGeom>
            <a:solidFill>
              <a:srgbClr val="F4956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 name="Google Shape;344;g2d66fe037e7_0_0"/>
            <p:cNvSpPr txBox="1"/>
            <p:nvPr/>
          </p:nvSpPr>
          <p:spPr>
            <a:xfrm>
              <a:off x="0" y="0"/>
              <a:ext cx="2840400" cy="482100"/>
            </a:xfrm>
            <a:prstGeom prst="rect">
              <a:avLst/>
            </a:prstGeom>
            <a:noFill/>
            <a:ln>
              <a:noFill/>
            </a:ln>
          </p:spPr>
          <p:txBody>
            <a:bodyPr anchorCtr="0" anchor="ctr" bIns="50800" lIns="50800" spcFirstLastPara="1" rIns="50800" wrap="square" tIns="50800">
              <a:noAutofit/>
            </a:bodyPr>
            <a:lstStyle/>
            <a:p>
              <a:pPr indent="0" lvl="0" marL="0" marR="0" rtl="0" algn="ctr">
                <a:lnSpc>
                  <a:spcPct val="146611"/>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5" name="Google Shape;345;g2d66fe037e7_0_0"/>
          <p:cNvSpPr/>
          <p:nvPr/>
        </p:nvSpPr>
        <p:spPr>
          <a:xfrm rot="-543719">
            <a:off x="1150355" y="6055779"/>
            <a:ext cx="1835856" cy="3299741"/>
          </a:xfrm>
          <a:custGeom>
            <a:rect b="b" l="l" r="r" t="t"/>
            <a:pathLst>
              <a:path extrusionOk="0" h="3299803" w="1835890">
                <a:moveTo>
                  <a:pt x="0" y="0"/>
                </a:moveTo>
                <a:lnTo>
                  <a:pt x="1835890" y="0"/>
                </a:lnTo>
                <a:lnTo>
                  <a:pt x="1835890" y="3299803"/>
                </a:lnTo>
                <a:lnTo>
                  <a:pt x="0" y="329980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6" name="Google Shape;346;g2d66fe037e7_0_0"/>
          <p:cNvSpPr txBox="1"/>
          <p:nvPr/>
        </p:nvSpPr>
        <p:spPr>
          <a:xfrm>
            <a:off x="4215113" y="4141169"/>
            <a:ext cx="9635400" cy="11853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lang="en-US" sz="7700">
                <a:solidFill>
                  <a:srgbClr val="FFFFFF"/>
                </a:solidFill>
              </a:rPr>
              <a:t>Thank you!</a:t>
            </a:r>
            <a:endParaRPr/>
          </a:p>
        </p:txBody>
      </p:sp>
      <p:sp>
        <p:nvSpPr>
          <p:cNvPr id="347" name="Google Shape;347;g2d66fe037e7_0_0"/>
          <p:cNvSpPr/>
          <p:nvPr/>
        </p:nvSpPr>
        <p:spPr>
          <a:xfrm flipH="1" rot="1716628">
            <a:off x="14426822" y="654131"/>
            <a:ext cx="3818225" cy="4259683"/>
          </a:xfrm>
          <a:custGeom>
            <a:rect b="b" l="l" r="r" t="t"/>
            <a:pathLst>
              <a:path extrusionOk="0" h="4249496" w="3809094">
                <a:moveTo>
                  <a:pt x="3809094" y="0"/>
                </a:moveTo>
                <a:lnTo>
                  <a:pt x="0" y="0"/>
                </a:lnTo>
                <a:lnTo>
                  <a:pt x="0" y="4249496"/>
                </a:lnTo>
                <a:lnTo>
                  <a:pt x="3809094" y="4249496"/>
                </a:lnTo>
                <a:lnTo>
                  <a:pt x="3809094"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